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Silhouette</c:v>
                </c:pt>
              </c:strCache>
            </c:strRef>
          </c:tx>
          <c:spPr>
            <a:solidFill>
              <a:srgbClr val="8FBC8F"/>
            </a:solidFill>
            <a:ln w="38100" cap="flat">
              <a:solidFill>
                <a:srgbClr val="8FBC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FBC8F"/>
              </a:solidFill>
              <a:ln w="9525" cap="flat">
                <a:solidFill>
                  <a:srgbClr val="8FBC8F"/>
                </a:solidFill>
                <a:prstDash val="solid"/>
                <a:round/>
              </a:ln>
              <a:effectLst/>
            </c:spPr>
          </c:marker>
          <c:cat>
            <c:multiLvlStrRef>
              <c:f>Sheet1!$A$2:$A$8</c:f>
              <c:multiLvlStrCache>
                <c:ptCount val="7"/>
                <c:lvl>
                  <c:pt idx="0">
                    <c:v>2017</c:v>
                  </c:pt>
                  <c:pt idx="1">
                    <c:v>2018</c:v>
                  </c:pt>
                  <c:pt idx="2">
                    <c:v>2019</c:v>
                  </c:pt>
                  <c:pt idx="3">
                    <c:v>2020</c:v>
                  </c:pt>
                  <c:pt idx="4">
                    <c:v>2021</c:v>
                  </c:pt>
                  <c:pt idx="5">
                    <c:v>2022</c:v>
                  </c:pt>
                  <c:pt idx="6">
                    <c:v>2023</c:v>
                  </c:pt>
                </c:lvl>
              </c:multiLvlStrCache>
            </c:multiLvlStrRef>
          </c:cat>
          <c:val>
            <c:numRef>
              <c:f>Sheet1!$B$2:$B$8</c:f>
              <c:numCache>
                <c:formatCode>General</c:formatCode>
                <c:ptCount val="7"/>
                <c:pt idx="0">
                  <c:v>0.333</c:v>
                </c:pt>
                <c:pt idx="1">
                  <c:v>0.415</c:v>
                </c:pt>
                <c:pt idx="2">
                  <c:v>0.433</c:v>
                </c:pt>
                <c:pt idx="3">
                  <c:v>0.404</c:v>
                </c:pt>
                <c:pt idx="4">
                  <c:v>0.358</c:v>
                </c:pt>
                <c:pt idx="5">
                  <c:v>0.338</c:v>
                </c:pt>
                <c:pt idx="6">
                  <c:v>0.339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5"/>
          <c:min val="0.3"/>
        </c:scaling>
        <c:delete val="0"/>
        <c:axPos val="l"/>
        <c:majorGridlines>
          <c:spPr>
            <a:ln w="6350" cap="flat">
              <a:solidFill>
                <a:srgbClr val="DD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Adjusted Rand</c:v>
                </c:pt>
              </c:strCache>
            </c:strRef>
          </c:tx>
          <c:spPr>
            <a:solidFill>
              <a:srgbClr val="2E5266"/>
            </a:solidFill>
            <a:effectLst/>
          </c:spPr>
          <c:invertIfNegative val="0"/>
          <c:dLbls>
            <c:numFmt formatCode="0.000" sourceLinked="0"/>
            <c:txPr>
              <a:bodyPr/>
              <a:lstStyle/>
              <a:p>
                <a:pPr>
                  <a:defRPr b="0" i="0" strike="noStrike" sz="1100" u="none">
                    <a:solidFill>
                      <a:srgbClr val="2E5266"/>
                    </a:solidFill>
                    <a:latin typeface="Arial"/>
                  </a:defRPr>
                </a:pPr>
              </a:p>
            </c:txPr>
            <c:showLegendKey val="0"/>
            <c:showVal val="1"/>
            <c:showCatName val="0"/>
            <c:showSerName val="0"/>
            <c:showPercent val="0"/>
            <c:showBubbleSize val="0"/>
            <c:showLeaderLines val="0"/>
          </c:dLbls>
          <c:cat>
            <c:multiLvlStrRef>
              <c:f>Sheet1!$A$2:$A$4</c:f>
              <c:multiLvlStrCache>
                <c:ptCount val="3"/>
                <c:lvl>
                  <c:pt idx="0">
                    <c:v>GICS vs FF12</c:v>
                  </c:pt>
                  <c:pt idx="1">
                    <c:v>GICS vs Cluster</c:v>
                  </c:pt>
                  <c:pt idx="2">
                    <c:v>FF12 vs Cluster</c:v>
                  </c:pt>
                </c:lvl>
              </c:multiLvlStrCache>
            </c:multiLvlStrRef>
          </c:cat>
          <c:val>
            <c:numRef>
              <c:f>Sheet1!$B$2:$B$4</c:f>
              <c:numCache>
                <c:formatCode>General</c:formatCode>
                <c:ptCount val="3"/>
                <c:pt idx="0">
                  <c:v>0.464</c:v>
                </c:pt>
                <c:pt idx="1">
                  <c:v>0.048</c:v>
                </c:pt>
                <c:pt idx="2">
                  <c:v>0.033</c:v>
                </c:pt>
              </c:numCache>
            </c:numRef>
          </c:val>
        </c:ser>
        <c:dLbls>
          <c:numFmt formatCode="0.000" sourceLinked="0"/>
          <c:txPr>
            <a:bodyPr/>
            <a:lstStyle/>
            <a:p>
              <a:pPr>
                <a:defRPr b="0" i="0" strike="noStrike" sz="1100" u="none">
                  <a:solidFill>
                    <a:srgbClr val="2E526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6350" cap="flat">
              <a:solidFill>
                <a:srgbClr val="DDE5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Within-group correlation</c:v>
                </c:pt>
              </c:strCache>
            </c:strRef>
          </c:tx>
          <c:spPr>
            <a:solidFill>
              <a:srgbClr val="2E5266">
                <a:alpha val="100000"/>
              </a:srgbClr>
            </a:solidFill>
            <a:effectLst/>
          </c:spPr>
          <c:invertIfNegative val="0"/>
          <c:dLbls>
            <c:numFmt formatCode="0.000" sourceLinked="0"/>
            <c:txPr>
              <a:bodyPr/>
              <a:lstStyle/>
              <a:p>
                <a:pPr>
                  <a:defRPr b="0" i="0" strike="noStrike" sz="1200" u="none">
                    <a:solidFill>
                      <a:srgbClr val="2E5266"/>
                    </a:solidFill>
                    <a:latin typeface="Arial"/>
                  </a:defRPr>
                </a:pPr>
              </a:p>
            </c:txPr>
            <c:showLegendKey val="0"/>
            <c:showVal val="1"/>
            <c:showCatName val="0"/>
            <c:showSerName val="0"/>
            <c:showPercent val="0"/>
            <c:showBubbleSize val="0"/>
            <c:showLeaderLines val="0"/>
          </c:dLbls>
          <c:dPt>
            <c:idx val="0"/>
            <c:invertIfNegative val="0"/>
            <c:bubble3D val="0"/>
            <c:spPr>
              <a:solidFill>
                <a:srgbClr val="2E5266"/>
              </a:solidFill>
              <a:effectLst/>
            </c:spPr>
          </c:dPt>
          <c:dPt>
            <c:idx val="1"/>
            <c:invertIfNegative val="0"/>
            <c:bubble3D val="0"/>
            <c:spPr>
              <a:solidFill>
                <a:srgbClr val="4A7C59"/>
              </a:solidFill>
              <a:effectLst/>
            </c:spPr>
          </c:dPt>
          <c:dPt>
            <c:idx val="2"/>
            <c:invertIfNegative val="0"/>
            <c:bubble3D val="0"/>
            <c:spPr>
              <a:solidFill>
                <a:srgbClr val="8FBC8F"/>
              </a:solidFill>
              <a:effectLst/>
            </c:spPr>
          </c:dPt>
          <c:cat>
            <c:multiLvlStrRef>
              <c:f>Sheet1!$A$2:$A$4</c:f>
              <c:multiLvlStrCache>
                <c:ptCount val="3"/>
                <c:lvl>
                  <c:pt idx="0">
                    <c:v>GICS</c:v>
                  </c:pt>
                  <c:pt idx="1">
                    <c:v>FF12</c:v>
                  </c:pt>
                  <c:pt idx="2">
                    <c:v>Cluster</c:v>
                  </c:pt>
                </c:lvl>
              </c:multiLvlStrCache>
            </c:multiLvlStrRef>
          </c:cat>
          <c:val>
            <c:numRef>
              <c:f>Sheet1!$B$2:$B$4</c:f>
              <c:numCache>
                <c:formatCode>General</c:formatCode>
                <c:ptCount val="3"/>
                <c:pt idx="0">
                  <c:v>0.471</c:v>
                </c:pt>
                <c:pt idx="1">
                  <c:v>0.453</c:v>
                </c:pt>
                <c:pt idx="2">
                  <c:v>0.337</c:v>
                </c:pt>
              </c:numCache>
            </c:numRef>
          </c:val>
        </c:ser>
        <c:dLbls>
          <c:numFmt formatCode="0.000" sourceLinked="0"/>
          <c:txPr>
            <a:bodyPr/>
            <a:lstStyle/>
            <a:p>
              <a:pPr>
                <a:defRPr b="0" i="0" strike="noStrike" sz="1200" u="none">
                  <a:solidFill>
                    <a:srgbClr val="2E526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DD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OOS R²</c:v>
                </c:pt>
              </c:strCache>
            </c:strRef>
          </c:tx>
          <c:spPr>
            <a:solidFill>
              <a:srgbClr val="4A7C59"/>
            </a:solidFill>
            <a:effectLst/>
          </c:spPr>
          <c:invertIfNegative val="0"/>
          <c:dLbls>
            <c:numFmt formatCode="0.000" sourceLinked="0"/>
            <c:txPr>
              <a:bodyPr/>
              <a:lstStyle/>
              <a:p>
                <a:pPr>
                  <a:defRPr b="0" i="0" strike="noStrike" sz="1100" u="none">
                    <a:solidFill>
                      <a:srgbClr val="2E5266"/>
                    </a:solidFill>
                    <a:latin typeface="Arial"/>
                  </a:defRPr>
                </a:pPr>
              </a:p>
            </c:txPr>
            <c:showLegendKey val="0"/>
            <c:showVal val="1"/>
            <c:showCatName val="0"/>
            <c:showSerName val="0"/>
            <c:showPercent val="0"/>
            <c:showBubbleSize val="0"/>
            <c:showLeaderLines val="0"/>
          </c:dLbls>
          <c:cat>
            <c:multiLvlStrRef>
              <c:f>Sheet1!$A$2:$A$5</c:f>
              <c:multiLvlStrCache>
                <c:ptCount val="4"/>
                <c:lvl>
                  <c:pt idx="0">
                    <c:v>Cluster</c:v>
                  </c:pt>
                  <c:pt idx="1">
                    <c:v>Pooled</c:v>
                  </c:pt>
                  <c:pt idx="2">
                    <c:v>GICS</c:v>
                  </c:pt>
                  <c:pt idx="3">
                    <c:v>FF12</c:v>
                  </c:pt>
                </c:lvl>
              </c:multiLvlStrCache>
            </c:multiLvlStrRef>
          </c:cat>
          <c:val>
            <c:numRef>
              <c:f>Sheet1!$B$2:$B$5</c:f>
              <c:numCache>
                <c:formatCode>General</c:formatCode>
                <c:ptCount val="4"/>
                <c:pt idx="0">
                  <c:v>-0.0844</c:v>
                </c:pt>
                <c:pt idx="1">
                  <c:v>-0.0936</c:v>
                </c:pt>
                <c:pt idx="2">
                  <c:v>-0.2813</c:v>
                </c:pt>
                <c:pt idx="3">
                  <c:v>-0.4075</c:v>
                </c:pt>
              </c:numCache>
            </c:numRef>
          </c:val>
        </c:ser>
        <c:dLbls>
          <c:numFmt formatCode="0.000" sourceLinked="0"/>
          <c:txPr>
            <a:bodyPr/>
            <a:lstStyle/>
            <a:p>
              <a:pPr>
                <a:defRPr b="0" i="0" strike="noStrike" sz="1100" u="none">
                  <a:solidFill>
                    <a:srgbClr val="2E526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DE5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GICS</c:v>
                </c:pt>
              </c:strCache>
            </c:strRef>
          </c:tx>
          <c:spPr>
            <a:solidFill>
              <a:srgbClr val="2E526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+1 month</c:v>
                  </c:pt>
                  <c:pt idx="1">
                    <c:v>+3 months</c:v>
                  </c:pt>
                  <c:pt idx="2">
                    <c:v>+6 months</c:v>
                  </c:pt>
                </c:lvl>
              </c:multiLvlStrCache>
            </c:multiLvlStrRef>
          </c:cat>
          <c:val>
            <c:numRef>
              <c:f>Sheet1!$B$2:$B$4</c:f>
              <c:numCache>
                <c:formatCode>General</c:formatCode>
                <c:ptCount val="3"/>
                <c:pt idx="0">
                  <c:v>-0.0159</c:v>
                </c:pt>
                <c:pt idx="1">
                  <c:v>-0.0056</c:v>
                </c:pt>
                <c:pt idx="2">
                  <c:v>-0.0058</c:v>
                </c:pt>
              </c:numCache>
            </c:numRef>
          </c:val>
        </c:ser>
        <c:ser>
          <c:idx val="1"/>
          <c:order val="1"/>
          <c:tx>
            <c:strRef>
              <c:f>Sheet1!$C$1</c:f>
              <c:strCache>
                <c:ptCount val="1"/>
                <c:pt idx="0">
                  <c:v>FF12</c:v>
                </c:pt>
              </c:strCache>
            </c:strRef>
          </c:tx>
          <c:spPr>
            <a:solidFill>
              <a:srgbClr val="4A7C5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+1 month</c:v>
                  </c:pt>
                  <c:pt idx="1">
                    <c:v>+3 months</c:v>
                  </c:pt>
                  <c:pt idx="2">
                    <c:v>+6 months</c:v>
                  </c:pt>
                </c:lvl>
              </c:multiLvlStrCache>
            </c:multiLvlStrRef>
          </c:cat>
          <c:val>
            <c:numRef>
              <c:f>Sheet1!$C$2:$C$4</c:f>
              <c:numCache>
                <c:formatCode>General</c:formatCode>
                <c:ptCount val="3"/>
                <c:pt idx="0">
                  <c:v>-0.0042</c:v>
                </c:pt>
                <c:pt idx="1">
                  <c:v>0.0013</c:v>
                </c:pt>
                <c:pt idx="2">
                  <c:v>-0.0061</c:v>
                </c:pt>
              </c:numCache>
            </c:numRef>
          </c:val>
        </c:ser>
        <c:ser>
          <c:idx val="2"/>
          <c:order val="2"/>
          <c:tx>
            <c:strRef>
              <c:f>Sheet1!$D$1</c:f>
              <c:strCache>
                <c:ptCount val="1"/>
                <c:pt idx="0">
                  <c:v>Cluster</c:v>
                </c:pt>
              </c:strCache>
            </c:strRef>
          </c:tx>
          <c:spPr>
            <a:solidFill>
              <a:srgbClr val="8FBC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+1 month</c:v>
                  </c:pt>
                  <c:pt idx="1">
                    <c:v>+3 months</c:v>
                  </c:pt>
                  <c:pt idx="2">
                    <c:v>+6 months</c:v>
                  </c:pt>
                </c:lvl>
              </c:multiLvlStrCache>
            </c:multiLvlStrRef>
          </c:cat>
          <c:val>
            <c:numRef>
              <c:f>Sheet1!$D$2:$D$4</c:f>
              <c:numCache>
                <c:formatCode>General</c:formatCode>
                <c:ptCount val="3"/>
                <c:pt idx="0">
                  <c:v>-0.0099</c:v>
                </c:pt>
                <c:pt idx="1">
                  <c:v>0.0085</c:v>
                </c:pt>
                <c:pt idx="2">
                  <c:v>-0.0101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0.012"/>
          <c:min val="-0.02"/>
        </c:scaling>
        <c:delete val="0"/>
        <c:axPos val="l"/>
        <c:majorGridlines>
          <c:spPr>
            <a:ln w="6350" cap="flat">
              <a:solidFill>
                <a:srgbClr val="DD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presenting our project on classifier comparison. The question is straightforward: when we group S&amp;P 500 stocks, does an unsupervised data-driven grouping organize them more coherently than the standard industry classifications? We compare three schemes head-to-head — GICS sectors, the SIC-based Fama-French 12 industries, and K-Means clusters built on return co-movement. I'll walk through the question, the methods, what we found across four dimensions of comparison, and where the results pose more questions than answers. Plan to take about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We'll walk through this in four parts. First, the research question and the two design choices that shape what counts as a real signal. Second, data and methods — the three schemes, the target, and the feature set. Third, the four-dimension comparison — that's the bulk of the talk: composition, within-group homogeneity, predictive accuracy, and anomaly detection. And fourth, robustness checks and the synthesis — what we'd do next. Should run about 10 minutes. Plan to take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question is whether grouping stocks differently — using their actual return behavior instead of an industry label — gives us a more coherent picture of the cross-section. Two design choices we made early. First, the target is realized alpha, not raw return. If you predict raw return from factor exposures, you mostly just recover the standard risk premia — high-beta stocks earn higher returns on average. That's tautological, not a finding. We want the residual after factors are priced out. Second, FF5 is published with a multi-month delay, so any feature derived from FF data gets a 2-month lag. That keeps the forecast realistic — you couldn't use future information at the time you'd be making the prediction. These choices matter because they tighten what counts as a real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classification schemes, all fed through the same downstream pipeline on the same data. GICS is the standard 11-sector partition the index providers use. FF12 is Ken French's 12-industry partition — the academic finance counterpart to GICS, built directly from SIC codes. And K-Means, the unsupervised approach, groups stocks whose excess returns move together. We refit it every year on the prior 60 months, reduce to 10 principal components, and pick k by silhouette score. The Hungarian algorithm keeps cluster IDs consistent across refits so we can track them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target side: realized alpha from a five-factor model, one month forward. We estimate betas on a rolling 36-month window and take the residual. The forward label is alpha at t+1, attached to the row at time t. On the feature side: we use the cross-sectionally z-scored FF5 betas, so each stock is ranked against its peers at the same date. We add 12-month-minus-1-month momentum, 12-month volatility, and lagged log market cap. Then macroeconomic context — the 10-year Treasury yield, the Fed funds rate, and VIX, all lagged one month. And the FF5 factor returns themselves, lagged two months to honor the publication delay. Train window is 2018 through 2022. Holdout is 2023–2024. All metrics report on the holdout.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look at the data. We assemble a panel of 498 unique permnos across 132 months — that's 2014 through 2024. About 67% of stock-months are 'modelable,' meaning all features and the forward target are non-missing. The 33% that drop out come mostly from the rolling beta warm-up at the start of the sample and edge cases at the end. Three sources: CRSP for membership, returns, SIC history, and the GICS linkage; Ken French for FF5 factors and the FF12 definitions; and FRED for the macro variables. We also ran explicit anti-leakage tests — for instance, that alpha at t+1 equals the lead of realized alpha, and that lagged FF columns match a manual lag operation.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K-Means results. The chart on the left shows the silhouette score at each annual refit. It's stable around 0.34 to 0.43 across the seven refits. The headline finding is on the right: every year, the silhouette criterion picks k equals 2. Two clusters dominate. This is interesting and a little unexpected. We were targeting industry-style granularity — comparable to GICS at 11 groups or FF12 at 12. Instead, the unsupervised method finds a binary split. The likely interpretation is that the dominant axis of co-movement among S&amp;P 500 stocks is cyclical-versus-defensive, or high-beta-versus-low-beta. There's an open question here we'll come back to: is this telling us something real about market structure, or is it a feature of the silhouette criterion not rewarding finer partitions? Either way, it changes how we should read the comparisons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four comparison dimensions: composition. We use the adjusted Rand index, which measures how similar two partitions are. One means identical, zero means random overlap. GICS versus FF12 sits at 0.46 — meaningful agreement, which makes sense because both schemes are ultimately built around what a firm does. But GICS or FF12 versus the K-Means clusters? Both close to zero. The unsupervised partition is genuinely different from industry codes. That's actually what we'd want — otherwise the clustering would be redundant with information we already have. One caveat to keep in mind: comparing a 2-cluster partition against an 11- or 12-group partition will mechanically produce low Rand index regardless of structure. So we should treat this as suggestive, not decisive.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comparison: within-group homogeneity. If a classification works, members of the same group should behave alike. We measure mean within-group correlation of excess returns. Here's an interesting result. K-Means was specifically designed to maximize within-group co-movement. That's literally what the algorithm minimizes the inverse of. And yet GICS comes out on top at 0.47, with FF12 just behind at 0.45, and the clusters at 0.34. The most likely explanation goes back to the previous slide: with only 2 clusters of roughly 200 stocks each, we're averaging across a lot of heterogeneity. GICS at 11 groups gives you smaller, more focused buckets — and the correlation reflects that. An open question, and a clear next step, is whether forcing k to match GICS — say k=11 — would change this picture. Right now this finding is partly mechanical.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comparison: predictive accuracy. We fit a separate Elastic Net within each group — predicting one-month-forward alpha — and compare against a pooled baseline that uses no grouping. I want to be straightforward about what we found. Every R² on the holdout is negative. That includes the pooled model. Negative R² means the model does worse than just guessing the cross-sectional mean. Cluster does best in relative terms, then pooled, then GICS, then FF12. But the relative ranking matters less than the level. The honest read is: with these features, on this holdout, one-month-ahead alpha forecasting isn't working. This poses a real open question for the project: is monthly alpha just not predictable from this feature set, or does the model need momentum, quality, short-term reversal — features outside FF5 — to actually pick up signal? Or maybe we need a longer prediction horizon, since one-month alpha is very noisy. We'd flag this as the most important issue to investigate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and final comparison: anomaly detection. We trained an Isolation Forest within each group on the train window, flagged the most anomalous 5% on the holdout, and asked: do these flagged stocks subsequently earn meaningfully different forward alpha? If anomaly flagging is finding mispriced stocks, you'd expect a persistent negative gap — flagged stocks underperforming over time. GICS produces the cleanest one-month signal, with flagged stocks underperforming by about 1.6% on average. But the gap decays meaningfully by month 3 and stays modest at month 6. FF12 has the weakest signal and isn't even monotonic — it's slightly positive at 3 months. Cluster is the strangest. Negative at 1 month, then sign-flips to positive at 3 months, then back to negative at 6 months. That non-monotonic pattern is hard to interpret as systematic mispricing. So the open question on this dimension: none of the schemes deliver a persistent mispricing signal. Maybe the right horizon for these anomalies is longer than 6 months, maybe the FF5-residual definition of 'anomaly' is too narrow. Worth more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synthesis, a quick word on robustness — what we did to make sure the pipeline is sound. First, leakage. We ran three explicit invariants. The forward target at time t had to equal the lead of realized alpha. The rolling betas had to use only data through t minus the loading lag. And every lagged FF column had to match a manual lag operation. All three passed. Second, cluster stability. Refitting K-Means every year could scramble which cluster is 'cluster 1' versus 'cluster 2.' We use the Hungarian algorithm to match new labels against the prior year's, so the IDs stay interpretable across time. With k=2 every year, that matching is straightforward. Third, coverage. We're working on 52,221 stock-months and roughly 67% are 'modelable' — meaning all features and the forward target are present. The 33% gap is concentrated at the rolling-beta warm-up and at the panel edges, which is what we'd expect; it's not driven by missingness in the middle of the sample. What we didn't check: how sensitive results are to the refit window — 60 months is one choice; 36 or 84 might give a different picture. And we're still in dev mode here, so the full S&amp;P 500 run is outstanding.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four comparisons together. On composition, the clusters are uniquely different from industry codes — that's a check in their favor. On within-group co-movement, GICS wins narrowly, even though K-Means was optimized for this. Probably because of the granularity gap. On predictive R², no scheme is good in absolute terms, but Cluster is least bad. On anomaly persistence, GICS has the most coherent pattern, even though the signal decays. The honest synthesis is: there isn't a clear winner. GICS holds its own remarkably well — it's a simple, interpretable scheme and it performs about as well as anything else we tried. The unsupervised clusters carry genuinely different information, but with k=2 the comparison may not be fair to either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project's findings actually open up. First, we'd force k to match GICS — say 11 — to make the clustering comparison apples-to-apples. The k=2 result was striking but it raises the question of whether K-Means simply needs more clusters to show its strengths. Second, every R² was negative. The most direct response is to expand the features beyond FF5. Momentum, quality, short-term reversal — these are well-known anomaly factors that aren't in our current input set. If predictability emerges with a richer feature set, that tells us the issue was features, not classification. Third, the anomaly horizon. Six months is the longest we report. Some mispricing-reversion stories play out over a year or longer. Fourth, this is a dev-mode run. The full S&amp;P 500 should tighten everything. These four are roughly in priority order — if we got to do one more thing, it'd be the expanded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where we are. Happy to take questions on any of the four comparison dimensions, the design choices around alpha and lagging, or where the clustering goes from here.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526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FBC8F"/>
          </a:solidFill>
          <a:ln w="12700">
            <a:solidFill>
              <a:srgbClr val="8FBC8F"/>
            </a:solidFill>
            <a:prstDash val="solid"/>
          </a:ln>
        </p:spPr>
      </p:sp>
      <p:sp>
        <p:nvSpPr>
          <p:cNvPr id="3" name="Text 1"/>
          <p:cNvSpPr/>
          <p:nvPr/>
        </p:nvSpPr>
        <p:spPr>
          <a:xfrm>
            <a:off x="731520" y="1280160"/>
            <a:ext cx="10972800" cy="365760"/>
          </a:xfrm>
          <a:prstGeom prst="rect">
            <a:avLst/>
          </a:prstGeom>
          <a:noFill/>
          <a:ln/>
        </p:spPr>
        <p:txBody>
          <a:bodyPr wrap="square" lIns="0" tIns="0" rIns="0" bIns="0" rtlCol="0" anchor="ctr"/>
          <a:lstStyle/>
          <a:p>
            <a:pPr indent="0" marL="0">
              <a:buNone/>
            </a:pPr>
            <a:r>
              <a:rPr lang="en-US" sz="1200" b="1" spc="600" kern="0" dirty="0">
                <a:solidFill>
                  <a:srgbClr val="D6E4EC"/>
                </a:solidFill>
                <a:latin typeface="Calibri" pitchFamily="34" charset="0"/>
                <a:ea typeface="Calibri" pitchFamily="34" charset="-122"/>
                <a:cs typeface="Calibri" pitchFamily="34" charset="-120"/>
              </a:rPr>
              <a:t>USF · BIG DATA &amp; MACHINE LEARNING IN FINANCE</a:t>
            </a:r>
            <a:endParaRPr lang="en-US" sz="1200" dirty="0"/>
          </a:p>
        </p:txBody>
      </p:sp>
      <p:sp>
        <p:nvSpPr>
          <p:cNvPr id="4" name="Text 2"/>
          <p:cNvSpPr/>
          <p:nvPr/>
        </p:nvSpPr>
        <p:spPr>
          <a:xfrm>
            <a:off x="731520" y="1783080"/>
            <a:ext cx="10972800" cy="13716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Three-Way Equity Classifier Comparison</a:t>
            </a:r>
            <a:endParaRPr lang="en-US" sz="4800" dirty="0"/>
          </a:p>
        </p:txBody>
      </p:sp>
      <p:sp>
        <p:nvSpPr>
          <p:cNvPr id="5" name="Text 3"/>
          <p:cNvSpPr/>
          <p:nvPr/>
        </p:nvSpPr>
        <p:spPr>
          <a:xfrm>
            <a:off x="731520" y="3291840"/>
            <a:ext cx="10972800" cy="548640"/>
          </a:xfrm>
          <a:prstGeom prst="rect">
            <a:avLst/>
          </a:prstGeom>
          <a:noFill/>
          <a:ln/>
        </p:spPr>
        <p:txBody>
          <a:bodyPr wrap="square" lIns="0" tIns="0" rIns="0" bIns="0" rtlCol="0" anchor="ctr"/>
          <a:lstStyle/>
          <a:p>
            <a:pPr indent="0" marL="0">
              <a:buNone/>
            </a:pPr>
            <a:r>
              <a:rPr lang="en-US" sz="2000" i="1" dirty="0">
                <a:solidFill>
                  <a:srgbClr val="D6E4EC"/>
                </a:solidFill>
                <a:latin typeface="Georgia" pitchFamily="34" charset="0"/>
                <a:ea typeface="Georgia" pitchFamily="34" charset="-122"/>
                <a:cs typeface="Georgia" pitchFamily="34" charset="-120"/>
              </a:rPr>
              <a:t>GICS sectors · SIC/FF12 industries · K-Means co-movement clusters</a:t>
            </a:r>
            <a:endParaRPr lang="en-US" sz="2000" dirty="0"/>
          </a:p>
        </p:txBody>
      </p:sp>
      <p:sp>
        <p:nvSpPr>
          <p:cNvPr id="6" name="Shape 4"/>
          <p:cNvSpPr/>
          <p:nvPr/>
        </p:nvSpPr>
        <p:spPr>
          <a:xfrm>
            <a:off x="731520" y="4297680"/>
            <a:ext cx="2286000" cy="0"/>
          </a:xfrm>
          <a:prstGeom prst="line">
            <a:avLst/>
          </a:prstGeom>
          <a:noFill/>
          <a:ln w="25400">
            <a:solidFill>
              <a:srgbClr val="8FBC8F"/>
            </a:solidFill>
            <a:prstDash val="solid"/>
          </a:ln>
        </p:spPr>
      </p:sp>
      <p:sp>
        <p:nvSpPr>
          <p:cNvPr id="7" name="Text 5"/>
          <p:cNvSpPr/>
          <p:nvPr/>
        </p:nvSpPr>
        <p:spPr>
          <a:xfrm>
            <a:off x="731520" y="4480560"/>
            <a:ext cx="7315200" cy="13716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Group 8</a:t>
            </a:r>
            <a:endParaRPr lang="en-US" sz="1400" dirty="0"/>
          </a:p>
          <a:p>
            <a:pPr indent="0" marL="0">
              <a:buNone/>
            </a:pPr>
            <a:r>
              <a:rPr lang="en-US" sz="1400" dirty="0">
                <a:solidFill>
                  <a:srgbClr val="D6E4EC"/>
                </a:solidFill>
                <a:latin typeface="Calibri" pitchFamily="34" charset="0"/>
                <a:ea typeface="Calibri" pitchFamily="34" charset="-122"/>
                <a:cs typeface="Calibri" pitchFamily="34" charset="-120"/>
              </a:rPr>
              <a:t>April 27,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What we'll cover</a:t>
            </a:r>
            <a:endParaRPr lang="en-US" sz="3000" dirty="0"/>
          </a:p>
        </p:txBody>
      </p:sp>
      <p:sp>
        <p:nvSpPr>
          <p:cNvPr id="4" name="Shape 2"/>
          <p:cNvSpPr/>
          <p:nvPr/>
        </p:nvSpPr>
        <p:spPr>
          <a:xfrm>
            <a:off x="548640" y="1783080"/>
            <a:ext cx="11064240" cy="960120"/>
          </a:xfrm>
          <a:prstGeom prst="rect">
            <a:avLst/>
          </a:prstGeom>
          <a:solidFill>
            <a:srgbClr val="F4F7F9"/>
          </a:solidFill>
          <a:ln w="12700">
            <a:solidFill>
              <a:srgbClr val="DDE5EC"/>
            </a:solidFill>
            <a:prstDash val="solid"/>
          </a:ln>
        </p:spPr>
      </p:sp>
      <p:sp>
        <p:nvSpPr>
          <p:cNvPr id="5" name="Shape 3"/>
          <p:cNvSpPr/>
          <p:nvPr/>
        </p:nvSpPr>
        <p:spPr>
          <a:xfrm>
            <a:off x="548640" y="1783080"/>
            <a:ext cx="91440" cy="960120"/>
          </a:xfrm>
          <a:prstGeom prst="rect">
            <a:avLst/>
          </a:prstGeom>
          <a:solidFill>
            <a:srgbClr val="2E5266"/>
          </a:solidFill>
          <a:ln w="12700">
            <a:solidFill>
              <a:srgbClr val="2E5266"/>
            </a:solidFill>
            <a:prstDash val="solid"/>
          </a:ln>
        </p:spPr>
      </p:sp>
      <p:sp>
        <p:nvSpPr>
          <p:cNvPr id="6" name="Text 4"/>
          <p:cNvSpPr/>
          <p:nvPr/>
        </p:nvSpPr>
        <p:spPr>
          <a:xfrm>
            <a:off x="914400" y="1965960"/>
            <a:ext cx="1097280" cy="685800"/>
          </a:xfrm>
          <a:prstGeom prst="rect">
            <a:avLst/>
          </a:prstGeom>
          <a:noFill/>
          <a:ln/>
        </p:spPr>
        <p:txBody>
          <a:bodyPr wrap="square" lIns="0" tIns="0" rIns="0" bIns="0" rtlCol="0" anchor="ctr"/>
          <a:lstStyle/>
          <a:p>
            <a:pPr indent="0" marL="0">
              <a:buNone/>
            </a:pPr>
            <a:r>
              <a:rPr lang="en-US" sz="3200" b="1" dirty="0">
                <a:solidFill>
                  <a:srgbClr val="2E5266"/>
                </a:solidFill>
                <a:latin typeface="Georgia" pitchFamily="34" charset="0"/>
                <a:ea typeface="Georgia" pitchFamily="34" charset="-122"/>
                <a:cs typeface="Georgia" pitchFamily="34" charset="-120"/>
              </a:rPr>
              <a:t>01</a:t>
            </a:r>
            <a:endParaRPr lang="en-US" sz="3200" dirty="0"/>
          </a:p>
        </p:txBody>
      </p:sp>
      <p:sp>
        <p:nvSpPr>
          <p:cNvPr id="7" name="Text 5"/>
          <p:cNvSpPr/>
          <p:nvPr/>
        </p:nvSpPr>
        <p:spPr>
          <a:xfrm>
            <a:off x="2194560" y="1947672"/>
            <a:ext cx="8961120" cy="457200"/>
          </a:xfrm>
          <a:prstGeom prst="rect">
            <a:avLst/>
          </a:prstGeom>
          <a:noFill/>
          <a:ln/>
        </p:spPr>
        <p:txBody>
          <a:bodyPr wrap="square" lIns="0" tIns="0" rIns="0" bIns="0" rtlCol="0" anchor="ctr"/>
          <a:lstStyle/>
          <a:p>
            <a:pPr indent="0" marL="0">
              <a:buNone/>
            </a:pPr>
            <a:r>
              <a:rPr lang="en-US" sz="1800" b="1" dirty="0">
                <a:solidFill>
                  <a:srgbClr val="2E5266"/>
                </a:solidFill>
                <a:latin typeface="Calibri" pitchFamily="34" charset="0"/>
                <a:ea typeface="Calibri" pitchFamily="34" charset="-122"/>
                <a:cs typeface="Calibri" pitchFamily="34" charset="-120"/>
              </a:rPr>
              <a:t>The question and design choices</a:t>
            </a:r>
            <a:endParaRPr lang="en-US" sz="1800" dirty="0"/>
          </a:p>
        </p:txBody>
      </p:sp>
      <p:sp>
        <p:nvSpPr>
          <p:cNvPr id="8" name="Text 6"/>
          <p:cNvSpPr/>
          <p:nvPr/>
        </p:nvSpPr>
        <p:spPr>
          <a:xfrm>
            <a:off x="2194560" y="2331720"/>
            <a:ext cx="8961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Predicting alpha vs. return; FF lag</a:t>
            </a:r>
            <a:endParaRPr lang="en-US" sz="1200" dirty="0"/>
          </a:p>
        </p:txBody>
      </p:sp>
      <p:sp>
        <p:nvSpPr>
          <p:cNvPr id="9" name="Shape 7"/>
          <p:cNvSpPr/>
          <p:nvPr/>
        </p:nvSpPr>
        <p:spPr>
          <a:xfrm>
            <a:off x="548640" y="2880360"/>
            <a:ext cx="11064240" cy="960120"/>
          </a:xfrm>
          <a:prstGeom prst="rect">
            <a:avLst/>
          </a:prstGeom>
          <a:solidFill>
            <a:srgbClr val="F4F7F9"/>
          </a:solidFill>
          <a:ln w="12700">
            <a:solidFill>
              <a:srgbClr val="DDE5EC"/>
            </a:solidFill>
            <a:prstDash val="solid"/>
          </a:ln>
        </p:spPr>
      </p:sp>
      <p:sp>
        <p:nvSpPr>
          <p:cNvPr id="10" name="Shape 8"/>
          <p:cNvSpPr/>
          <p:nvPr/>
        </p:nvSpPr>
        <p:spPr>
          <a:xfrm>
            <a:off x="548640" y="2880360"/>
            <a:ext cx="91440" cy="960120"/>
          </a:xfrm>
          <a:prstGeom prst="rect">
            <a:avLst/>
          </a:prstGeom>
          <a:solidFill>
            <a:srgbClr val="2E5266"/>
          </a:solidFill>
          <a:ln w="12700">
            <a:solidFill>
              <a:srgbClr val="2E5266"/>
            </a:solidFill>
            <a:prstDash val="solid"/>
          </a:ln>
        </p:spPr>
      </p:sp>
      <p:sp>
        <p:nvSpPr>
          <p:cNvPr id="11" name="Text 9"/>
          <p:cNvSpPr/>
          <p:nvPr/>
        </p:nvSpPr>
        <p:spPr>
          <a:xfrm>
            <a:off x="914400" y="3063240"/>
            <a:ext cx="1097280" cy="685800"/>
          </a:xfrm>
          <a:prstGeom prst="rect">
            <a:avLst/>
          </a:prstGeom>
          <a:noFill/>
          <a:ln/>
        </p:spPr>
        <p:txBody>
          <a:bodyPr wrap="square" lIns="0" tIns="0" rIns="0" bIns="0" rtlCol="0" anchor="ctr"/>
          <a:lstStyle/>
          <a:p>
            <a:pPr indent="0" marL="0">
              <a:buNone/>
            </a:pPr>
            <a:r>
              <a:rPr lang="en-US" sz="3200" b="1" dirty="0">
                <a:solidFill>
                  <a:srgbClr val="2E5266"/>
                </a:solidFill>
                <a:latin typeface="Georgia" pitchFamily="34" charset="0"/>
                <a:ea typeface="Georgia" pitchFamily="34" charset="-122"/>
                <a:cs typeface="Georgia" pitchFamily="34" charset="-120"/>
              </a:rPr>
              <a:t>02</a:t>
            </a:r>
            <a:endParaRPr lang="en-US" sz="3200" dirty="0"/>
          </a:p>
        </p:txBody>
      </p:sp>
      <p:sp>
        <p:nvSpPr>
          <p:cNvPr id="12" name="Text 10"/>
          <p:cNvSpPr/>
          <p:nvPr/>
        </p:nvSpPr>
        <p:spPr>
          <a:xfrm>
            <a:off x="2194560" y="3044952"/>
            <a:ext cx="8961120" cy="457200"/>
          </a:xfrm>
          <a:prstGeom prst="rect">
            <a:avLst/>
          </a:prstGeom>
          <a:noFill/>
          <a:ln/>
        </p:spPr>
        <p:txBody>
          <a:bodyPr wrap="square" lIns="0" tIns="0" rIns="0" bIns="0" rtlCol="0" anchor="ctr"/>
          <a:lstStyle/>
          <a:p>
            <a:pPr indent="0" marL="0">
              <a:buNone/>
            </a:pPr>
            <a:r>
              <a:rPr lang="en-US" sz="1800" b="1" dirty="0">
                <a:solidFill>
                  <a:srgbClr val="2E5266"/>
                </a:solidFill>
                <a:latin typeface="Calibri" pitchFamily="34" charset="0"/>
                <a:ea typeface="Calibri" pitchFamily="34" charset="-122"/>
                <a:cs typeface="Calibri" pitchFamily="34" charset="-120"/>
              </a:rPr>
              <a:t>Data and methods</a:t>
            </a:r>
            <a:endParaRPr lang="en-US" sz="1800" dirty="0"/>
          </a:p>
        </p:txBody>
      </p:sp>
      <p:sp>
        <p:nvSpPr>
          <p:cNvPr id="13" name="Text 11"/>
          <p:cNvSpPr/>
          <p:nvPr/>
        </p:nvSpPr>
        <p:spPr>
          <a:xfrm>
            <a:off x="2194560" y="3429000"/>
            <a:ext cx="8961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Three schemes, target, features</a:t>
            </a:r>
            <a:endParaRPr lang="en-US" sz="1200" dirty="0"/>
          </a:p>
        </p:txBody>
      </p:sp>
      <p:sp>
        <p:nvSpPr>
          <p:cNvPr id="14" name="Shape 12"/>
          <p:cNvSpPr/>
          <p:nvPr/>
        </p:nvSpPr>
        <p:spPr>
          <a:xfrm>
            <a:off x="548640" y="3977640"/>
            <a:ext cx="11064240" cy="960120"/>
          </a:xfrm>
          <a:prstGeom prst="rect">
            <a:avLst/>
          </a:prstGeom>
          <a:solidFill>
            <a:srgbClr val="F4F7F9"/>
          </a:solidFill>
          <a:ln w="12700">
            <a:solidFill>
              <a:srgbClr val="DDE5EC"/>
            </a:solidFill>
            <a:prstDash val="solid"/>
          </a:ln>
        </p:spPr>
      </p:sp>
      <p:sp>
        <p:nvSpPr>
          <p:cNvPr id="15" name="Shape 13"/>
          <p:cNvSpPr/>
          <p:nvPr/>
        </p:nvSpPr>
        <p:spPr>
          <a:xfrm>
            <a:off x="548640" y="3977640"/>
            <a:ext cx="91440" cy="960120"/>
          </a:xfrm>
          <a:prstGeom prst="rect">
            <a:avLst/>
          </a:prstGeom>
          <a:solidFill>
            <a:srgbClr val="4A7C59"/>
          </a:solidFill>
          <a:ln w="12700">
            <a:solidFill>
              <a:srgbClr val="4A7C59"/>
            </a:solidFill>
            <a:prstDash val="solid"/>
          </a:ln>
        </p:spPr>
      </p:sp>
      <p:sp>
        <p:nvSpPr>
          <p:cNvPr id="16" name="Text 14"/>
          <p:cNvSpPr/>
          <p:nvPr/>
        </p:nvSpPr>
        <p:spPr>
          <a:xfrm>
            <a:off x="914400" y="4160520"/>
            <a:ext cx="1097280" cy="685800"/>
          </a:xfrm>
          <a:prstGeom prst="rect">
            <a:avLst/>
          </a:prstGeom>
          <a:noFill/>
          <a:ln/>
        </p:spPr>
        <p:txBody>
          <a:bodyPr wrap="square" lIns="0" tIns="0" rIns="0" bIns="0" rtlCol="0" anchor="ctr"/>
          <a:lstStyle/>
          <a:p>
            <a:pPr indent="0" marL="0">
              <a:buNone/>
            </a:pPr>
            <a:r>
              <a:rPr lang="en-US" sz="3200" b="1" dirty="0">
                <a:solidFill>
                  <a:srgbClr val="4A7C59"/>
                </a:solidFill>
                <a:latin typeface="Georgia" pitchFamily="34" charset="0"/>
                <a:ea typeface="Georgia" pitchFamily="34" charset="-122"/>
                <a:cs typeface="Georgia" pitchFamily="34" charset="-120"/>
              </a:rPr>
              <a:t>03</a:t>
            </a:r>
            <a:endParaRPr lang="en-US" sz="3200" dirty="0"/>
          </a:p>
        </p:txBody>
      </p:sp>
      <p:sp>
        <p:nvSpPr>
          <p:cNvPr id="17" name="Text 15"/>
          <p:cNvSpPr/>
          <p:nvPr/>
        </p:nvSpPr>
        <p:spPr>
          <a:xfrm>
            <a:off x="2194560" y="4142232"/>
            <a:ext cx="8961120" cy="457200"/>
          </a:xfrm>
          <a:prstGeom prst="rect">
            <a:avLst/>
          </a:prstGeom>
          <a:noFill/>
          <a:ln/>
        </p:spPr>
        <p:txBody>
          <a:bodyPr wrap="square" lIns="0" tIns="0" rIns="0" bIns="0" rtlCol="0" anchor="ctr"/>
          <a:lstStyle/>
          <a:p>
            <a:pPr indent="0" marL="0">
              <a:buNone/>
            </a:pPr>
            <a:r>
              <a:rPr lang="en-US" sz="1800" b="1" dirty="0">
                <a:solidFill>
                  <a:srgbClr val="2E5266"/>
                </a:solidFill>
                <a:latin typeface="Calibri" pitchFamily="34" charset="0"/>
                <a:ea typeface="Calibri" pitchFamily="34" charset="-122"/>
                <a:cs typeface="Calibri" pitchFamily="34" charset="-120"/>
              </a:rPr>
              <a:t>Four-dimension comparison</a:t>
            </a:r>
            <a:endParaRPr lang="en-US" sz="1800" dirty="0"/>
          </a:p>
        </p:txBody>
      </p:sp>
      <p:sp>
        <p:nvSpPr>
          <p:cNvPr id="18" name="Text 16"/>
          <p:cNvSpPr/>
          <p:nvPr/>
        </p:nvSpPr>
        <p:spPr>
          <a:xfrm>
            <a:off x="2194560" y="4526280"/>
            <a:ext cx="8961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Composition · homogeneity · prediction · anomalies</a:t>
            </a:r>
            <a:endParaRPr lang="en-US" sz="1200" dirty="0"/>
          </a:p>
        </p:txBody>
      </p:sp>
      <p:sp>
        <p:nvSpPr>
          <p:cNvPr id="19" name="Shape 17"/>
          <p:cNvSpPr/>
          <p:nvPr/>
        </p:nvSpPr>
        <p:spPr>
          <a:xfrm>
            <a:off x="548640" y="5074920"/>
            <a:ext cx="11064240" cy="960120"/>
          </a:xfrm>
          <a:prstGeom prst="rect">
            <a:avLst/>
          </a:prstGeom>
          <a:solidFill>
            <a:srgbClr val="F4F7F9"/>
          </a:solidFill>
          <a:ln w="12700">
            <a:solidFill>
              <a:srgbClr val="DDE5EC"/>
            </a:solidFill>
            <a:prstDash val="solid"/>
          </a:ln>
        </p:spPr>
      </p:sp>
      <p:sp>
        <p:nvSpPr>
          <p:cNvPr id="20" name="Shape 18"/>
          <p:cNvSpPr/>
          <p:nvPr/>
        </p:nvSpPr>
        <p:spPr>
          <a:xfrm>
            <a:off x="548640" y="5074920"/>
            <a:ext cx="91440" cy="960120"/>
          </a:xfrm>
          <a:prstGeom prst="rect">
            <a:avLst/>
          </a:prstGeom>
          <a:solidFill>
            <a:srgbClr val="4A7C59"/>
          </a:solidFill>
          <a:ln w="12700">
            <a:solidFill>
              <a:srgbClr val="4A7C59"/>
            </a:solidFill>
            <a:prstDash val="solid"/>
          </a:ln>
        </p:spPr>
      </p:sp>
      <p:sp>
        <p:nvSpPr>
          <p:cNvPr id="21" name="Text 19"/>
          <p:cNvSpPr/>
          <p:nvPr/>
        </p:nvSpPr>
        <p:spPr>
          <a:xfrm>
            <a:off x="914400" y="5257800"/>
            <a:ext cx="1097280" cy="685800"/>
          </a:xfrm>
          <a:prstGeom prst="rect">
            <a:avLst/>
          </a:prstGeom>
          <a:noFill/>
          <a:ln/>
        </p:spPr>
        <p:txBody>
          <a:bodyPr wrap="square" lIns="0" tIns="0" rIns="0" bIns="0" rtlCol="0" anchor="ctr"/>
          <a:lstStyle/>
          <a:p>
            <a:pPr indent="0" marL="0">
              <a:buNone/>
            </a:pPr>
            <a:r>
              <a:rPr lang="en-US" sz="3200" b="1" dirty="0">
                <a:solidFill>
                  <a:srgbClr val="4A7C59"/>
                </a:solidFill>
                <a:latin typeface="Georgia" pitchFamily="34" charset="0"/>
                <a:ea typeface="Georgia" pitchFamily="34" charset="-122"/>
                <a:cs typeface="Georgia" pitchFamily="34" charset="-120"/>
              </a:rPr>
              <a:t>04</a:t>
            </a:r>
            <a:endParaRPr lang="en-US" sz="3200" dirty="0"/>
          </a:p>
        </p:txBody>
      </p:sp>
      <p:sp>
        <p:nvSpPr>
          <p:cNvPr id="22" name="Text 20"/>
          <p:cNvSpPr/>
          <p:nvPr/>
        </p:nvSpPr>
        <p:spPr>
          <a:xfrm>
            <a:off x="2194560" y="5239512"/>
            <a:ext cx="8961120" cy="457200"/>
          </a:xfrm>
          <a:prstGeom prst="rect">
            <a:avLst/>
          </a:prstGeom>
          <a:noFill/>
          <a:ln/>
        </p:spPr>
        <p:txBody>
          <a:bodyPr wrap="square" lIns="0" tIns="0" rIns="0" bIns="0" rtlCol="0" anchor="ctr"/>
          <a:lstStyle/>
          <a:p>
            <a:pPr indent="0" marL="0">
              <a:buNone/>
            </a:pPr>
            <a:r>
              <a:rPr lang="en-US" sz="1800" b="1" dirty="0">
                <a:solidFill>
                  <a:srgbClr val="2E5266"/>
                </a:solidFill>
                <a:latin typeface="Calibri" pitchFamily="34" charset="0"/>
                <a:ea typeface="Calibri" pitchFamily="34" charset="-122"/>
                <a:cs typeface="Calibri" pitchFamily="34" charset="-120"/>
              </a:rPr>
              <a:t>Robustness and synthesis</a:t>
            </a:r>
            <a:endParaRPr lang="en-US" sz="1800" dirty="0"/>
          </a:p>
        </p:txBody>
      </p:sp>
      <p:sp>
        <p:nvSpPr>
          <p:cNvPr id="23" name="Text 21"/>
          <p:cNvSpPr/>
          <p:nvPr/>
        </p:nvSpPr>
        <p:spPr>
          <a:xfrm>
            <a:off x="2194560" y="5623560"/>
            <a:ext cx="896112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Leakage, stability, scorecard, next steps</a:t>
            </a:r>
            <a:endParaRPr lang="en-US" sz="1200" dirty="0"/>
          </a:p>
        </p:txBody>
      </p:sp>
      <p:sp>
        <p:nvSpPr>
          <p:cNvPr id="24" name="Text 22"/>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25" name="Text 23"/>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The research question</a:t>
            </a:r>
            <a:endParaRPr lang="en-US" sz="3000" dirty="0"/>
          </a:p>
        </p:txBody>
      </p:sp>
      <p:sp>
        <p:nvSpPr>
          <p:cNvPr id="4" name="Shape 2"/>
          <p:cNvSpPr/>
          <p:nvPr/>
        </p:nvSpPr>
        <p:spPr>
          <a:xfrm>
            <a:off x="548640" y="1828800"/>
            <a:ext cx="11064240" cy="1463040"/>
          </a:xfrm>
          <a:prstGeom prst="rect">
            <a:avLst/>
          </a:prstGeom>
          <a:solidFill>
            <a:srgbClr val="F4F7F9"/>
          </a:solidFill>
          <a:ln w="12700">
            <a:solidFill>
              <a:srgbClr val="DDE5EC"/>
            </a:solidFill>
            <a:prstDash val="solid"/>
          </a:ln>
        </p:spPr>
      </p:sp>
      <p:sp>
        <p:nvSpPr>
          <p:cNvPr id="5" name="Shape 3"/>
          <p:cNvSpPr/>
          <p:nvPr/>
        </p:nvSpPr>
        <p:spPr>
          <a:xfrm>
            <a:off x="548640" y="1828800"/>
            <a:ext cx="91440" cy="1463040"/>
          </a:xfrm>
          <a:prstGeom prst="rect">
            <a:avLst/>
          </a:prstGeom>
          <a:solidFill>
            <a:srgbClr val="8FBC8F"/>
          </a:solidFill>
          <a:ln w="12700">
            <a:solidFill>
              <a:srgbClr val="8FBC8F"/>
            </a:solidFill>
            <a:prstDash val="solid"/>
          </a:ln>
        </p:spPr>
      </p:sp>
      <p:sp>
        <p:nvSpPr>
          <p:cNvPr id="6" name="Text 4"/>
          <p:cNvSpPr/>
          <p:nvPr/>
        </p:nvSpPr>
        <p:spPr>
          <a:xfrm>
            <a:off x="868680" y="1920240"/>
            <a:ext cx="10607040" cy="1280160"/>
          </a:xfrm>
          <a:prstGeom prst="rect">
            <a:avLst/>
          </a:prstGeom>
          <a:noFill/>
          <a:ln/>
        </p:spPr>
        <p:txBody>
          <a:bodyPr wrap="square" lIns="0" tIns="0" rIns="0" bIns="0" rtlCol="0" anchor="ctr"/>
          <a:lstStyle/>
          <a:p>
            <a:pPr indent="0" marL="0">
              <a:buNone/>
            </a:pPr>
            <a:r>
              <a:rPr lang="en-US" sz="2200" i="1" dirty="0">
                <a:solidFill>
                  <a:srgbClr val="2E5266"/>
                </a:solidFill>
                <a:latin typeface="Georgia" pitchFamily="34" charset="0"/>
                <a:ea typeface="Georgia" pitchFamily="34" charset="-122"/>
                <a:cs typeface="Georgia" pitchFamily="34" charset="-120"/>
              </a:rPr>
              <a:t>Do data-driven groupings of S&amp;P 500 stocks classify firms more coherently than GICS sectors — and do they better surface forward-alpha anomalies?</a:t>
            </a:r>
            <a:endParaRPr lang="en-US" sz="2200" dirty="0"/>
          </a:p>
        </p:txBody>
      </p:sp>
      <p:sp>
        <p:nvSpPr>
          <p:cNvPr id="7" name="Text 5"/>
          <p:cNvSpPr/>
          <p:nvPr/>
        </p:nvSpPr>
        <p:spPr>
          <a:xfrm>
            <a:off x="548640" y="3657600"/>
            <a:ext cx="10972800" cy="365760"/>
          </a:xfrm>
          <a:prstGeom prst="rect">
            <a:avLst/>
          </a:prstGeom>
          <a:noFill/>
          <a:ln/>
        </p:spPr>
        <p:txBody>
          <a:bodyPr wrap="square" lIns="0" tIns="0" rIns="0" bIns="0" rtlCol="0" anchor="ctr"/>
          <a:lstStyle/>
          <a:p>
            <a:pPr indent="0" marL="0">
              <a:buNone/>
            </a:pPr>
            <a:r>
              <a:rPr lang="en-US" sz="1400" b="1" spc="300" kern="0" dirty="0">
                <a:solidFill>
                  <a:srgbClr val="8FBC8F"/>
                </a:solidFill>
                <a:latin typeface="Calibri" pitchFamily="34" charset="0"/>
                <a:ea typeface="Calibri" pitchFamily="34" charset="-122"/>
                <a:cs typeface="Calibri" pitchFamily="34" charset="-120"/>
              </a:rPr>
              <a:t>Two design choices upfront</a:t>
            </a:r>
            <a:endParaRPr lang="en-US" sz="1400" dirty="0"/>
          </a:p>
        </p:txBody>
      </p:sp>
      <p:sp>
        <p:nvSpPr>
          <p:cNvPr id="8" name="Shape 6"/>
          <p:cNvSpPr/>
          <p:nvPr/>
        </p:nvSpPr>
        <p:spPr>
          <a:xfrm>
            <a:off x="548640" y="4114800"/>
            <a:ext cx="5440680" cy="1828800"/>
          </a:xfrm>
          <a:prstGeom prst="rect">
            <a:avLst/>
          </a:prstGeom>
          <a:solidFill>
            <a:srgbClr val="FFFFFF"/>
          </a:solidFill>
          <a:ln w="12700">
            <a:solidFill>
              <a:srgbClr val="DDE5EC"/>
            </a:solidFill>
            <a:prstDash val="solid"/>
          </a:ln>
          <a:effectLst>
            <a:outerShdw sx="100000" sy="100000" kx="0" ky="0" algn="bl" rotWithShape="0" blurRad="101600" dist="25400" dir="5400000">
              <a:srgbClr val="000000">
                <a:alpha val="6000"/>
              </a:srgbClr>
            </a:outerShdw>
          </a:effectLst>
        </p:spPr>
      </p:sp>
      <p:sp>
        <p:nvSpPr>
          <p:cNvPr id="9" name="Text 7"/>
          <p:cNvSpPr/>
          <p:nvPr/>
        </p:nvSpPr>
        <p:spPr>
          <a:xfrm>
            <a:off x="777240" y="4251960"/>
            <a:ext cx="5029200" cy="365760"/>
          </a:xfrm>
          <a:prstGeom prst="rect">
            <a:avLst/>
          </a:prstGeom>
          <a:noFill/>
          <a:ln/>
        </p:spPr>
        <p:txBody>
          <a:bodyPr wrap="square" lIns="0" tIns="0" rIns="0" bIns="0" rtlCol="0" anchor="ctr"/>
          <a:lstStyle/>
          <a:p>
            <a:pPr indent="0" marL="0">
              <a:buNone/>
            </a:pPr>
            <a:r>
              <a:rPr lang="en-US" sz="1600" b="1" dirty="0">
                <a:solidFill>
                  <a:srgbClr val="2E5266"/>
                </a:solidFill>
                <a:latin typeface="Calibri" pitchFamily="34" charset="0"/>
                <a:ea typeface="Calibri" pitchFamily="34" charset="-122"/>
                <a:cs typeface="Calibri" pitchFamily="34" charset="-120"/>
              </a:rPr>
              <a:t>Predict alpha, not raw return</a:t>
            </a:r>
            <a:endParaRPr lang="en-US" sz="1600" dirty="0"/>
          </a:p>
        </p:txBody>
      </p:sp>
      <p:sp>
        <p:nvSpPr>
          <p:cNvPr id="10" name="Text 8"/>
          <p:cNvSpPr/>
          <p:nvPr/>
        </p:nvSpPr>
        <p:spPr>
          <a:xfrm>
            <a:off x="777240" y="4663440"/>
            <a:ext cx="5029200" cy="11887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Forecasting return from factor exposures just recovers risk premia. The interesting quantity is the FF5 residual — realized alpha.</a:t>
            </a:r>
            <a:endParaRPr lang="en-US" sz="1200" dirty="0"/>
          </a:p>
        </p:txBody>
      </p:sp>
      <p:sp>
        <p:nvSpPr>
          <p:cNvPr id="11" name="Shape 9"/>
          <p:cNvSpPr/>
          <p:nvPr/>
        </p:nvSpPr>
        <p:spPr>
          <a:xfrm>
            <a:off x="6172200" y="4114800"/>
            <a:ext cx="5440680" cy="1828800"/>
          </a:xfrm>
          <a:prstGeom prst="rect">
            <a:avLst/>
          </a:prstGeom>
          <a:solidFill>
            <a:srgbClr val="FFFFFF"/>
          </a:solidFill>
          <a:ln w="12700">
            <a:solidFill>
              <a:srgbClr val="DDE5EC"/>
            </a:solidFill>
            <a:prstDash val="solid"/>
          </a:ln>
          <a:effectLst>
            <a:outerShdw sx="100000" sy="100000" kx="0" ky="0" algn="bl" rotWithShape="0" blurRad="101600" dist="25400" dir="5400000">
              <a:srgbClr val="000000">
                <a:alpha val="6000"/>
              </a:srgbClr>
            </a:outerShdw>
          </a:effectLst>
        </p:spPr>
      </p:sp>
      <p:sp>
        <p:nvSpPr>
          <p:cNvPr id="12" name="Text 10"/>
          <p:cNvSpPr/>
          <p:nvPr/>
        </p:nvSpPr>
        <p:spPr>
          <a:xfrm>
            <a:off x="6400800" y="4251960"/>
            <a:ext cx="5029200" cy="365760"/>
          </a:xfrm>
          <a:prstGeom prst="rect">
            <a:avLst/>
          </a:prstGeom>
          <a:noFill/>
          <a:ln/>
        </p:spPr>
        <p:txBody>
          <a:bodyPr wrap="square" lIns="0" tIns="0" rIns="0" bIns="0" rtlCol="0" anchor="ctr"/>
          <a:lstStyle/>
          <a:p>
            <a:pPr indent="0" marL="0">
              <a:buNone/>
            </a:pPr>
            <a:r>
              <a:rPr lang="en-US" sz="1600" b="1" dirty="0">
                <a:solidFill>
                  <a:srgbClr val="2E5266"/>
                </a:solidFill>
                <a:latin typeface="Calibri" pitchFamily="34" charset="0"/>
                <a:ea typeface="Calibri" pitchFamily="34" charset="-122"/>
                <a:cs typeface="Calibri" pitchFamily="34" charset="-120"/>
              </a:rPr>
              <a:t>FF factors lagged 2 months</a:t>
            </a:r>
            <a:endParaRPr lang="en-US" sz="1600" dirty="0"/>
          </a:p>
        </p:txBody>
      </p:sp>
      <p:sp>
        <p:nvSpPr>
          <p:cNvPr id="13" name="Text 11"/>
          <p:cNvSpPr/>
          <p:nvPr/>
        </p:nvSpPr>
        <p:spPr>
          <a:xfrm>
            <a:off x="6400800" y="4663440"/>
            <a:ext cx="5029200" cy="11887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Ken French publishes FF5 with a multi-month delay. Any feature derived from FF returns is lagged so the forecast is usable in real time.</a:t>
            </a:r>
            <a:endParaRPr lang="en-US" sz="1200" dirty="0"/>
          </a:p>
        </p:txBody>
      </p:sp>
      <p:sp>
        <p:nvSpPr>
          <p:cNvPr id="14" name="Text 12"/>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15" name="Text 13"/>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METHODS</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Three classification schemes</a:t>
            </a:r>
            <a:endParaRPr lang="en-US" sz="3000" dirty="0"/>
          </a:p>
        </p:txBody>
      </p:sp>
      <p:sp>
        <p:nvSpPr>
          <p:cNvPr id="4" name="Shape 2"/>
          <p:cNvSpPr/>
          <p:nvPr/>
        </p:nvSpPr>
        <p:spPr>
          <a:xfrm>
            <a:off x="548640" y="1828800"/>
            <a:ext cx="3657600" cy="4114800"/>
          </a:xfrm>
          <a:prstGeom prst="rect">
            <a:avLst/>
          </a:prstGeom>
          <a:solidFill>
            <a:srgbClr val="FFFFFF"/>
          </a:solidFill>
          <a:ln w="12700">
            <a:solidFill>
              <a:srgbClr val="DDE5EC"/>
            </a:solidFill>
            <a:prstDash val="solid"/>
          </a:ln>
          <a:effectLst>
            <a:outerShdw sx="100000" sy="100000" kx="0" ky="0" algn="bl" rotWithShape="0" blurRad="127000" dist="25400" dir="5400000">
              <a:srgbClr val="000000">
                <a:alpha val="7000"/>
              </a:srgbClr>
            </a:outerShdw>
          </a:effectLst>
        </p:spPr>
      </p:sp>
      <p:sp>
        <p:nvSpPr>
          <p:cNvPr id="5" name="Shape 3"/>
          <p:cNvSpPr/>
          <p:nvPr/>
        </p:nvSpPr>
        <p:spPr>
          <a:xfrm>
            <a:off x="548640" y="1828800"/>
            <a:ext cx="3657600" cy="109728"/>
          </a:xfrm>
          <a:prstGeom prst="rect">
            <a:avLst/>
          </a:prstGeom>
          <a:solidFill>
            <a:srgbClr val="2E5266"/>
          </a:solidFill>
          <a:ln w="12700">
            <a:solidFill>
              <a:srgbClr val="2E5266"/>
            </a:solidFill>
            <a:prstDash val="solid"/>
          </a:ln>
        </p:spPr>
      </p:sp>
      <p:sp>
        <p:nvSpPr>
          <p:cNvPr id="6" name="Text 4"/>
          <p:cNvSpPr/>
          <p:nvPr/>
        </p:nvSpPr>
        <p:spPr>
          <a:xfrm>
            <a:off x="822960" y="2194560"/>
            <a:ext cx="914400" cy="548640"/>
          </a:xfrm>
          <a:prstGeom prst="rect">
            <a:avLst/>
          </a:prstGeom>
          <a:noFill/>
          <a:ln/>
        </p:spPr>
        <p:txBody>
          <a:bodyPr wrap="square" lIns="0" tIns="0" rIns="0" bIns="0" rtlCol="0" anchor="ctr"/>
          <a:lstStyle/>
          <a:p>
            <a:pPr indent="0" marL="0">
              <a:buNone/>
            </a:pPr>
            <a:r>
              <a:rPr lang="en-US" sz="3600" b="1" dirty="0">
                <a:solidFill>
                  <a:srgbClr val="2E5266"/>
                </a:solidFill>
                <a:latin typeface="Georgia" pitchFamily="34" charset="0"/>
                <a:ea typeface="Georgia" pitchFamily="34" charset="-122"/>
                <a:cs typeface="Georgia" pitchFamily="34" charset="-120"/>
              </a:rPr>
              <a:t>01</a:t>
            </a:r>
            <a:endParaRPr lang="en-US" sz="3600" dirty="0"/>
          </a:p>
        </p:txBody>
      </p:sp>
      <p:sp>
        <p:nvSpPr>
          <p:cNvPr id="7" name="Text 5"/>
          <p:cNvSpPr/>
          <p:nvPr/>
        </p:nvSpPr>
        <p:spPr>
          <a:xfrm>
            <a:off x="822960" y="2880360"/>
            <a:ext cx="3108960" cy="457200"/>
          </a:xfrm>
          <a:prstGeom prst="rect">
            <a:avLst/>
          </a:prstGeom>
          <a:noFill/>
          <a:ln/>
        </p:spPr>
        <p:txBody>
          <a:bodyPr wrap="square" lIns="0" tIns="0" rIns="0" bIns="0" rtlCol="0" anchor="ctr"/>
          <a:lstStyle/>
          <a:p>
            <a:pPr indent="0" marL="0">
              <a:buNone/>
            </a:pPr>
            <a:r>
              <a:rPr lang="en-US" sz="2000" b="1" dirty="0">
                <a:solidFill>
                  <a:srgbClr val="2E5266"/>
                </a:solidFill>
                <a:latin typeface="Calibri" pitchFamily="34" charset="0"/>
                <a:ea typeface="Calibri" pitchFamily="34" charset="-122"/>
                <a:cs typeface="Calibri" pitchFamily="34" charset="-120"/>
              </a:rPr>
              <a:t>GICS sectors</a:t>
            </a:r>
            <a:endParaRPr lang="en-US" sz="2000" dirty="0"/>
          </a:p>
        </p:txBody>
      </p:sp>
      <p:sp>
        <p:nvSpPr>
          <p:cNvPr id="8" name="Text 6"/>
          <p:cNvSpPr/>
          <p:nvPr/>
        </p:nvSpPr>
        <p:spPr>
          <a:xfrm>
            <a:off x="822960" y="3383280"/>
            <a:ext cx="310896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11 groups · industry standard</a:t>
            </a:r>
            <a:endParaRPr lang="en-US" sz="1100" dirty="0"/>
          </a:p>
        </p:txBody>
      </p:sp>
      <p:sp>
        <p:nvSpPr>
          <p:cNvPr id="9" name="Shape 7"/>
          <p:cNvSpPr/>
          <p:nvPr/>
        </p:nvSpPr>
        <p:spPr>
          <a:xfrm>
            <a:off x="822960" y="3794760"/>
            <a:ext cx="640080" cy="0"/>
          </a:xfrm>
          <a:prstGeom prst="line">
            <a:avLst/>
          </a:prstGeom>
          <a:noFill/>
          <a:ln w="19050">
            <a:solidFill>
              <a:srgbClr val="8FBC8F"/>
            </a:solidFill>
            <a:prstDash val="solid"/>
          </a:ln>
        </p:spPr>
      </p:sp>
      <p:sp>
        <p:nvSpPr>
          <p:cNvPr id="10" name="Text 8"/>
          <p:cNvSpPr/>
          <p:nvPr/>
        </p:nvSpPr>
        <p:spPr>
          <a:xfrm>
            <a:off x="822960" y="3977640"/>
            <a:ext cx="3108960" cy="17373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Eleven Global Industry Classification Standard sectors, assigned per stock-month via the CRSP/Compustat Merged linkage. Point-in-time membership.</a:t>
            </a:r>
            <a:endParaRPr lang="en-US" sz="1200" dirty="0"/>
          </a:p>
        </p:txBody>
      </p:sp>
      <p:sp>
        <p:nvSpPr>
          <p:cNvPr id="11" name="Shape 9"/>
          <p:cNvSpPr/>
          <p:nvPr/>
        </p:nvSpPr>
        <p:spPr>
          <a:xfrm>
            <a:off x="4434840" y="1828800"/>
            <a:ext cx="3657600" cy="4114800"/>
          </a:xfrm>
          <a:prstGeom prst="rect">
            <a:avLst/>
          </a:prstGeom>
          <a:solidFill>
            <a:srgbClr val="FFFFFF"/>
          </a:solidFill>
          <a:ln w="12700">
            <a:solidFill>
              <a:srgbClr val="DDE5EC"/>
            </a:solidFill>
            <a:prstDash val="solid"/>
          </a:ln>
          <a:effectLst>
            <a:outerShdw sx="100000" sy="100000" kx="0" ky="0" algn="bl" rotWithShape="0" blurRad="127000" dist="25400" dir="5400000">
              <a:srgbClr val="000000">
                <a:alpha val="7000"/>
              </a:srgbClr>
            </a:outerShdw>
          </a:effectLst>
        </p:spPr>
      </p:sp>
      <p:sp>
        <p:nvSpPr>
          <p:cNvPr id="12" name="Shape 10"/>
          <p:cNvSpPr/>
          <p:nvPr/>
        </p:nvSpPr>
        <p:spPr>
          <a:xfrm>
            <a:off x="4434840" y="1828800"/>
            <a:ext cx="3657600" cy="109728"/>
          </a:xfrm>
          <a:prstGeom prst="rect">
            <a:avLst/>
          </a:prstGeom>
          <a:solidFill>
            <a:srgbClr val="4A7C59"/>
          </a:solidFill>
          <a:ln w="12700">
            <a:solidFill>
              <a:srgbClr val="4A7C59"/>
            </a:solidFill>
            <a:prstDash val="solid"/>
          </a:ln>
        </p:spPr>
      </p:sp>
      <p:sp>
        <p:nvSpPr>
          <p:cNvPr id="13" name="Text 11"/>
          <p:cNvSpPr/>
          <p:nvPr/>
        </p:nvSpPr>
        <p:spPr>
          <a:xfrm>
            <a:off x="4709160" y="2194560"/>
            <a:ext cx="914400" cy="548640"/>
          </a:xfrm>
          <a:prstGeom prst="rect">
            <a:avLst/>
          </a:prstGeom>
          <a:noFill/>
          <a:ln/>
        </p:spPr>
        <p:txBody>
          <a:bodyPr wrap="square" lIns="0" tIns="0" rIns="0" bIns="0" rtlCol="0" anchor="ctr"/>
          <a:lstStyle/>
          <a:p>
            <a:pPr indent="0" marL="0">
              <a:buNone/>
            </a:pPr>
            <a:r>
              <a:rPr lang="en-US" sz="3600" b="1" dirty="0">
                <a:solidFill>
                  <a:srgbClr val="4A7C59"/>
                </a:solidFill>
                <a:latin typeface="Georgia" pitchFamily="34" charset="0"/>
                <a:ea typeface="Georgia" pitchFamily="34" charset="-122"/>
                <a:cs typeface="Georgia" pitchFamily="34" charset="-120"/>
              </a:rPr>
              <a:t>02</a:t>
            </a:r>
            <a:endParaRPr lang="en-US" sz="3600" dirty="0"/>
          </a:p>
        </p:txBody>
      </p:sp>
      <p:sp>
        <p:nvSpPr>
          <p:cNvPr id="14" name="Text 12"/>
          <p:cNvSpPr/>
          <p:nvPr/>
        </p:nvSpPr>
        <p:spPr>
          <a:xfrm>
            <a:off x="4709160" y="2880360"/>
            <a:ext cx="3108960" cy="457200"/>
          </a:xfrm>
          <a:prstGeom prst="rect">
            <a:avLst/>
          </a:prstGeom>
          <a:noFill/>
          <a:ln/>
        </p:spPr>
        <p:txBody>
          <a:bodyPr wrap="square" lIns="0" tIns="0" rIns="0" bIns="0" rtlCol="0" anchor="ctr"/>
          <a:lstStyle/>
          <a:p>
            <a:pPr indent="0" marL="0">
              <a:buNone/>
            </a:pPr>
            <a:r>
              <a:rPr lang="en-US" sz="2000" b="1" dirty="0">
                <a:solidFill>
                  <a:srgbClr val="2E5266"/>
                </a:solidFill>
                <a:latin typeface="Calibri" pitchFamily="34" charset="0"/>
                <a:ea typeface="Calibri" pitchFamily="34" charset="-122"/>
                <a:cs typeface="Calibri" pitchFamily="34" charset="-120"/>
              </a:rPr>
              <a:t>SIC / FF12 industries</a:t>
            </a:r>
            <a:endParaRPr lang="en-US" sz="2000" dirty="0"/>
          </a:p>
        </p:txBody>
      </p:sp>
      <p:sp>
        <p:nvSpPr>
          <p:cNvPr id="15" name="Text 13"/>
          <p:cNvSpPr/>
          <p:nvPr/>
        </p:nvSpPr>
        <p:spPr>
          <a:xfrm>
            <a:off x="4709160" y="3383280"/>
            <a:ext cx="310896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12 groups · academic standard</a:t>
            </a:r>
            <a:endParaRPr lang="en-US" sz="1100" dirty="0"/>
          </a:p>
        </p:txBody>
      </p:sp>
      <p:sp>
        <p:nvSpPr>
          <p:cNvPr id="16" name="Shape 14"/>
          <p:cNvSpPr/>
          <p:nvPr/>
        </p:nvSpPr>
        <p:spPr>
          <a:xfrm>
            <a:off x="4709160" y="3794760"/>
            <a:ext cx="640080" cy="0"/>
          </a:xfrm>
          <a:prstGeom prst="line">
            <a:avLst/>
          </a:prstGeom>
          <a:noFill/>
          <a:ln w="19050">
            <a:solidFill>
              <a:srgbClr val="8FBC8F"/>
            </a:solidFill>
            <a:prstDash val="solid"/>
          </a:ln>
        </p:spPr>
      </p:sp>
      <p:sp>
        <p:nvSpPr>
          <p:cNvPr id="17" name="Text 15"/>
          <p:cNvSpPr/>
          <p:nvPr/>
        </p:nvSpPr>
        <p:spPr>
          <a:xfrm>
            <a:off x="4709160" y="3977640"/>
            <a:ext cx="3108960" cy="17373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Each stock-month's SIC code maps to one of Ken French's twelve industries. Codes outside any range fall into 'Other.'</a:t>
            </a:r>
            <a:endParaRPr lang="en-US" sz="1200" dirty="0"/>
          </a:p>
        </p:txBody>
      </p:sp>
      <p:sp>
        <p:nvSpPr>
          <p:cNvPr id="18" name="Shape 16"/>
          <p:cNvSpPr/>
          <p:nvPr/>
        </p:nvSpPr>
        <p:spPr>
          <a:xfrm>
            <a:off x="8321040" y="1828800"/>
            <a:ext cx="3657600" cy="4114800"/>
          </a:xfrm>
          <a:prstGeom prst="rect">
            <a:avLst/>
          </a:prstGeom>
          <a:solidFill>
            <a:srgbClr val="FFFFFF"/>
          </a:solidFill>
          <a:ln w="12700">
            <a:solidFill>
              <a:srgbClr val="DDE5EC"/>
            </a:solidFill>
            <a:prstDash val="solid"/>
          </a:ln>
          <a:effectLst>
            <a:outerShdw sx="100000" sy="100000" kx="0" ky="0" algn="bl" rotWithShape="0" blurRad="127000" dist="25400" dir="5400000">
              <a:srgbClr val="000000">
                <a:alpha val="7000"/>
              </a:srgbClr>
            </a:outerShdw>
          </a:effectLst>
        </p:spPr>
      </p:sp>
      <p:sp>
        <p:nvSpPr>
          <p:cNvPr id="19" name="Shape 17"/>
          <p:cNvSpPr/>
          <p:nvPr/>
        </p:nvSpPr>
        <p:spPr>
          <a:xfrm>
            <a:off x="8321040" y="1828800"/>
            <a:ext cx="3657600" cy="109728"/>
          </a:xfrm>
          <a:prstGeom prst="rect">
            <a:avLst/>
          </a:prstGeom>
          <a:solidFill>
            <a:srgbClr val="8FBC8F"/>
          </a:solidFill>
          <a:ln w="12700">
            <a:solidFill>
              <a:srgbClr val="8FBC8F"/>
            </a:solidFill>
            <a:prstDash val="solid"/>
          </a:ln>
        </p:spPr>
      </p:sp>
      <p:sp>
        <p:nvSpPr>
          <p:cNvPr id="20" name="Text 18"/>
          <p:cNvSpPr/>
          <p:nvPr/>
        </p:nvSpPr>
        <p:spPr>
          <a:xfrm>
            <a:off x="8595360" y="2194560"/>
            <a:ext cx="914400" cy="548640"/>
          </a:xfrm>
          <a:prstGeom prst="rect">
            <a:avLst/>
          </a:prstGeom>
          <a:noFill/>
          <a:ln/>
        </p:spPr>
        <p:txBody>
          <a:bodyPr wrap="square" lIns="0" tIns="0" rIns="0" bIns="0" rtlCol="0" anchor="ctr"/>
          <a:lstStyle/>
          <a:p>
            <a:pPr indent="0" marL="0">
              <a:buNone/>
            </a:pPr>
            <a:r>
              <a:rPr lang="en-US" sz="3600" b="1" dirty="0">
                <a:solidFill>
                  <a:srgbClr val="8FBC8F"/>
                </a:solidFill>
                <a:latin typeface="Georgia" pitchFamily="34" charset="0"/>
                <a:ea typeface="Georgia" pitchFamily="34" charset="-122"/>
                <a:cs typeface="Georgia" pitchFamily="34" charset="-120"/>
              </a:rPr>
              <a:t>03</a:t>
            </a:r>
            <a:endParaRPr lang="en-US" sz="3600" dirty="0"/>
          </a:p>
        </p:txBody>
      </p:sp>
      <p:sp>
        <p:nvSpPr>
          <p:cNvPr id="21" name="Text 19"/>
          <p:cNvSpPr/>
          <p:nvPr/>
        </p:nvSpPr>
        <p:spPr>
          <a:xfrm>
            <a:off x="8595360" y="2880360"/>
            <a:ext cx="3108960" cy="457200"/>
          </a:xfrm>
          <a:prstGeom prst="rect">
            <a:avLst/>
          </a:prstGeom>
          <a:noFill/>
          <a:ln/>
        </p:spPr>
        <p:txBody>
          <a:bodyPr wrap="square" lIns="0" tIns="0" rIns="0" bIns="0" rtlCol="0" anchor="ctr"/>
          <a:lstStyle/>
          <a:p>
            <a:pPr indent="0" marL="0">
              <a:buNone/>
            </a:pPr>
            <a:r>
              <a:rPr lang="en-US" sz="2000" b="1" dirty="0">
                <a:solidFill>
                  <a:srgbClr val="2E5266"/>
                </a:solidFill>
                <a:latin typeface="Calibri" pitchFamily="34" charset="0"/>
                <a:ea typeface="Calibri" pitchFamily="34" charset="-122"/>
                <a:cs typeface="Calibri" pitchFamily="34" charset="-120"/>
              </a:rPr>
              <a:t>K-Means clusters</a:t>
            </a:r>
            <a:endParaRPr lang="en-US" sz="2000" dirty="0"/>
          </a:p>
        </p:txBody>
      </p:sp>
      <p:sp>
        <p:nvSpPr>
          <p:cNvPr id="22" name="Text 20"/>
          <p:cNvSpPr/>
          <p:nvPr/>
        </p:nvSpPr>
        <p:spPr>
          <a:xfrm>
            <a:off x="8595360" y="3383280"/>
            <a:ext cx="310896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Data-driven · refit annually</a:t>
            </a:r>
            <a:endParaRPr lang="en-US" sz="1100" dirty="0"/>
          </a:p>
        </p:txBody>
      </p:sp>
      <p:sp>
        <p:nvSpPr>
          <p:cNvPr id="23" name="Shape 21"/>
          <p:cNvSpPr/>
          <p:nvPr/>
        </p:nvSpPr>
        <p:spPr>
          <a:xfrm>
            <a:off x="8595360" y="3794760"/>
            <a:ext cx="640080" cy="0"/>
          </a:xfrm>
          <a:prstGeom prst="line">
            <a:avLst/>
          </a:prstGeom>
          <a:noFill/>
          <a:ln w="19050">
            <a:solidFill>
              <a:srgbClr val="8FBC8F"/>
            </a:solidFill>
            <a:prstDash val="solid"/>
          </a:ln>
        </p:spPr>
      </p:sp>
      <p:sp>
        <p:nvSpPr>
          <p:cNvPr id="24" name="Text 22"/>
          <p:cNvSpPr/>
          <p:nvPr/>
        </p:nvSpPr>
        <p:spPr>
          <a:xfrm>
            <a:off x="8595360" y="3977640"/>
            <a:ext cx="3108960" cy="17373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Annual refit on prior 60 months of return co-movement. PCA to 10 components, silhouette-optimal k. Hungarian matching keeps labels stable.</a:t>
            </a:r>
            <a:endParaRPr lang="en-US" sz="1200" dirty="0"/>
          </a:p>
        </p:txBody>
      </p:sp>
      <p:sp>
        <p:nvSpPr>
          <p:cNvPr id="25" name="Text 23"/>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26" name="Text 24"/>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METHODS</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Target and features</a:t>
            </a:r>
            <a:endParaRPr lang="en-US" sz="3000" dirty="0"/>
          </a:p>
        </p:txBody>
      </p:sp>
      <p:sp>
        <p:nvSpPr>
          <p:cNvPr id="4" name="Shape 2"/>
          <p:cNvSpPr/>
          <p:nvPr/>
        </p:nvSpPr>
        <p:spPr>
          <a:xfrm>
            <a:off x="548640" y="1691640"/>
            <a:ext cx="5303520" cy="4389120"/>
          </a:xfrm>
          <a:prstGeom prst="rect">
            <a:avLst/>
          </a:prstGeom>
          <a:solidFill>
            <a:srgbClr val="2E5266"/>
          </a:solidFill>
          <a:ln w="12700">
            <a:solidFill>
              <a:srgbClr val="2E5266"/>
            </a:solidFill>
            <a:prstDash val="solid"/>
          </a:ln>
        </p:spPr>
      </p:sp>
      <p:sp>
        <p:nvSpPr>
          <p:cNvPr id="5" name="Text 3"/>
          <p:cNvSpPr/>
          <p:nvPr/>
        </p:nvSpPr>
        <p:spPr>
          <a:xfrm>
            <a:off x="777240" y="1874520"/>
            <a:ext cx="457200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TARGET</a:t>
            </a:r>
            <a:endParaRPr lang="en-US" sz="1100" dirty="0"/>
          </a:p>
        </p:txBody>
      </p:sp>
      <p:sp>
        <p:nvSpPr>
          <p:cNvPr id="6" name="Text 4"/>
          <p:cNvSpPr/>
          <p:nvPr/>
        </p:nvSpPr>
        <p:spPr>
          <a:xfrm>
            <a:off x="777240" y="2240280"/>
            <a:ext cx="4937760" cy="6400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Realized alpha, one month forward</a:t>
            </a:r>
            <a:endParaRPr lang="en-US" sz="1900" dirty="0"/>
          </a:p>
        </p:txBody>
      </p:sp>
      <p:sp>
        <p:nvSpPr>
          <p:cNvPr id="7" name="Shape 5"/>
          <p:cNvSpPr/>
          <p:nvPr/>
        </p:nvSpPr>
        <p:spPr>
          <a:xfrm>
            <a:off x="777240" y="3108960"/>
            <a:ext cx="4846320" cy="914400"/>
          </a:xfrm>
          <a:prstGeom prst="rect">
            <a:avLst/>
          </a:prstGeom>
          <a:solidFill>
            <a:srgbClr val="1F3A47"/>
          </a:solidFill>
          <a:ln w="12700">
            <a:solidFill>
              <a:srgbClr val="1F3A47"/>
            </a:solidFill>
            <a:prstDash val="solid"/>
          </a:ln>
        </p:spPr>
      </p:sp>
      <p:sp>
        <p:nvSpPr>
          <p:cNvPr id="8" name="Text 6"/>
          <p:cNvSpPr/>
          <p:nvPr/>
        </p:nvSpPr>
        <p:spPr>
          <a:xfrm>
            <a:off x="777240" y="3108960"/>
            <a:ext cx="4846320" cy="914400"/>
          </a:xfrm>
          <a:prstGeom prst="rect">
            <a:avLst/>
          </a:prstGeom>
          <a:noFill/>
          <a:ln/>
        </p:spPr>
        <p:txBody>
          <a:bodyPr wrap="square" lIns="0" tIns="0" rIns="0" bIns="0" rtlCol="0" anchor="ctr"/>
          <a:lstStyle/>
          <a:p>
            <a:pPr algn="ctr" indent="0" marL="0">
              <a:buNone/>
            </a:pPr>
            <a:r>
              <a:rPr lang="en-US" sz="2200" b="1" dirty="0">
                <a:solidFill>
                  <a:srgbClr val="D6E4EC"/>
                </a:solidFill>
                <a:latin typeface="Consolas" pitchFamily="34" charset="0"/>
                <a:ea typeface="Consolas" pitchFamily="34" charset="-122"/>
                <a:cs typeface="Consolas" pitchFamily="34" charset="-120"/>
              </a:rPr>
              <a:t>α(t) = R(t) − β · F(t)</a:t>
            </a:r>
            <a:endParaRPr lang="en-US" sz="2200" dirty="0"/>
          </a:p>
        </p:txBody>
      </p:sp>
      <p:sp>
        <p:nvSpPr>
          <p:cNvPr id="9" name="Text 7"/>
          <p:cNvSpPr/>
          <p:nvPr/>
        </p:nvSpPr>
        <p:spPr>
          <a:xfrm>
            <a:off x="777240" y="4206240"/>
            <a:ext cx="4846320" cy="1737360"/>
          </a:xfrm>
          <a:prstGeom prst="rect">
            <a:avLst/>
          </a:prstGeom>
          <a:noFill/>
          <a:ln/>
        </p:spPr>
        <p:txBody>
          <a:bodyPr wrap="square" lIns="0" tIns="0" rIns="0" bIns="0" rtlCol="0" anchor="ctr"/>
          <a:lstStyle/>
          <a:p>
            <a:pPr indent="0" marL="0">
              <a:buNone/>
            </a:pPr>
            <a:r>
              <a:rPr lang="en-US" sz="1200" dirty="0">
                <a:solidFill>
                  <a:srgbClr val="D6E4EC"/>
                </a:solidFill>
                <a:latin typeface="Calibri" pitchFamily="34" charset="0"/>
                <a:ea typeface="Calibri" pitchFamily="34" charset="-122"/>
                <a:cs typeface="Calibri" pitchFamily="34" charset="-120"/>
              </a:rPr>
              <a:t>Residual from a five-factor model, with β estimated by OLS on the 36-month rolling window ending at t. The forward target is α(t+1) — the label, never an input.</a:t>
            </a:r>
            <a:endParaRPr lang="en-US" sz="1200" dirty="0"/>
          </a:p>
        </p:txBody>
      </p:sp>
      <p:sp>
        <p:nvSpPr>
          <p:cNvPr id="10" name="Text 8"/>
          <p:cNvSpPr/>
          <p:nvPr/>
        </p:nvSpPr>
        <p:spPr>
          <a:xfrm>
            <a:off x="6217920" y="1874520"/>
            <a:ext cx="548640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FEATURES</a:t>
            </a:r>
            <a:endParaRPr lang="en-US" sz="1100" dirty="0"/>
          </a:p>
        </p:txBody>
      </p:sp>
      <p:sp>
        <p:nvSpPr>
          <p:cNvPr id="11" name="Text 9"/>
          <p:cNvSpPr/>
          <p:nvPr/>
        </p:nvSpPr>
        <p:spPr>
          <a:xfrm>
            <a:off x="6217920" y="2240280"/>
            <a:ext cx="5486400" cy="457200"/>
          </a:xfrm>
          <a:prstGeom prst="rect">
            <a:avLst/>
          </a:prstGeom>
          <a:noFill/>
          <a:ln/>
        </p:spPr>
        <p:txBody>
          <a:bodyPr wrap="square" lIns="0" tIns="0" rIns="0" bIns="0" rtlCol="0" anchor="ctr"/>
          <a:lstStyle/>
          <a:p>
            <a:pPr indent="0" marL="0">
              <a:buNone/>
            </a:pPr>
            <a:r>
              <a:rPr lang="en-US" sz="1800" b="1" dirty="0">
                <a:solidFill>
                  <a:srgbClr val="2E5266"/>
                </a:solidFill>
                <a:latin typeface="Georgia" pitchFamily="34" charset="0"/>
                <a:ea typeface="Georgia" pitchFamily="34" charset="-122"/>
                <a:cs typeface="Georgia" pitchFamily="34" charset="-120"/>
              </a:rPr>
              <a:t>Inputs to the per-group models</a:t>
            </a:r>
            <a:endParaRPr lang="en-US" sz="1800" dirty="0"/>
          </a:p>
        </p:txBody>
      </p:sp>
      <p:sp>
        <p:nvSpPr>
          <p:cNvPr id="12" name="Shape 10"/>
          <p:cNvSpPr/>
          <p:nvPr/>
        </p:nvSpPr>
        <p:spPr>
          <a:xfrm>
            <a:off x="6217920" y="2971800"/>
            <a:ext cx="164592" cy="164592"/>
          </a:xfrm>
          <a:prstGeom prst="ellipse">
            <a:avLst/>
          </a:prstGeom>
          <a:solidFill>
            <a:srgbClr val="8FBC8F"/>
          </a:solidFill>
          <a:ln w="12700">
            <a:solidFill>
              <a:srgbClr val="8FBC8F"/>
            </a:solidFill>
            <a:prstDash val="solid"/>
          </a:ln>
        </p:spPr>
      </p:sp>
      <p:sp>
        <p:nvSpPr>
          <p:cNvPr id="13" name="Text 11"/>
          <p:cNvSpPr/>
          <p:nvPr/>
        </p:nvSpPr>
        <p:spPr>
          <a:xfrm>
            <a:off x="6492240" y="2880360"/>
            <a:ext cx="1737360" cy="365760"/>
          </a:xfrm>
          <a:prstGeom prst="rect">
            <a:avLst/>
          </a:prstGeom>
          <a:noFill/>
          <a:ln/>
        </p:spPr>
        <p:txBody>
          <a:bodyPr wrap="square" lIns="0" tIns="0" rIns="0" bIns="0" rtlCol="0" anchor="ctr"/>
          <a:lstStyle/>
          <a:p>
            <a:pPr indent="0" marL="0">
              <a:buNone/>
            </a:pPr>
            <a:r>
              <a:rPr lang="en-US" sz="1300" b="1" dirty="0">
                <a:solidFill>
                  <a:srgbClr val="2E5266"/>
                </a:solidFill>
                <a:latin typeface="Calibri" pitchFamily="34" charset="0"/>
                <a:ea typeface="Calibri" pitchFamily="34" charset="-122"/>
                <a:cs typeface="Calibri" pitchFamily="34" charset="-120"/>
              </a:rPr>
              <a:t>FF5 betas</a:t>
            </a:r>
            <a:endParaRPr lang="en-US" sz="1300" dirty="0"/>
          </a:p>
        </p:txBody>
      </p:sp>
      <p:sp>
        <p:nvSpPr>
          <p:cNvPr id="14" name="Text 12"/>
          <p:cNvSpPr/>
          <p:nvPr/>
        </p:nvSpPr>
        <p:spPr>
          <a:xfrm>
            <a:off x="8229600" y="2880360"/>
            <a:ext cx="347472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Cross-sectionally z-scored loadings vs. peers</a:t>
            </a:r>
            <a:endParaRPr lang="en-US" sz="1200" dirty="0"/>
          </a:p>
        </p:txBody>
      </p:sp>
      <p:sp>
        <p:nvSpPr>
          <p:cNvPr id="15" name="Shape 13"/>
          <p:cNvSpPr/>
          <p:nvPr/>
        </p:nvSpPr>
        <p:spPr>
          <a:xfrm>
            <a:off x="6217920" y="3474720"/>
            <a:ext cx="164592" cy="164592"/>
          </a:xfrm>
          <a:prstGeom prst="ellipse">
            <a:avLst/>
          </a:prstGeom>
          <a:solidFill>
            <a:srgbClr val="8FBC8F"/>
          </a:solidFill>
          <a:ln w="12700">
            <a:solidFill>
              <a:srgbClr val="8FBC8F"/>
            </a:solidFill>
            <a:prstDash val="solid"/>
          </a:ln>
        </p:spPr>
      </p:sp>
      <p:sp>
        <p:nvSpPr>
          <p:cNvPr id="16" name="Text 14"/>
          <p:cNvSpPr/>
          <p:nvPr/>
        </p:nvSpPr>
        <p:spPr>
          <a:xfrm>
            <a:off x="6492240" y="3383280"/>
            <a:ext cx="1737360" cy="365760"/>
          </a:xfrm>
          <a:prstGeom prst="rect">
            <a:avLst/>
          </a:prstGeom>
          <a:noFill/>
          <a:ln/>
        </p:spPr>
        <p:txBody>
          <a:bodyPr wrap="square" lIns="0" tIns="0" rIns="0" bIns="0" rtlCol="0" anchor="ctr"/>
          <a:lstStyle/>
          <a:p>
            <a:pPr indent="0" marL="0">
              <a:buNone/>
            </a:pPr>
            <a:r>
              <a:rPr lang="en-US" sz="1300" b="1" dirty="0">
                <a:solidFill>
                  <a:srgbClr val="2E5266"/>
                </a:solidFill>
                <a:latin typeface="Calibri" pitchFamily="34" charset="0"/>
                <a:ea typeface="Calibri" pitchFamily="34" charset="-122"/>
                <a:cs typeface="Calibri" pitchFamily="34" charset="-120"/>
              </a:rPr>
              <a:t>12-1 momentum</a:t>
            </a:r>
            <a:endParaRPr lang="en-US" sz="1300" dirty="0"/>
          </a:p>
        </p:txBody>
      </p:sp>
      <p:sp>
        <p:nvSpPr>
          <p:cNvPr id="17" name="Text 15"/>
          <p:cNvSpPr/>
          <p:nvPr/>
        </p:nvSpPr>
        <p:spPr>
          <a:xfrm>
            <a:off x="8229600" y="3383280"/>
            <a:ext cx="347472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Cumulative return from t-12 to t-2</a:t>
            </a:r>
            <a:endParaRPr lang="en-US" sz="1200" dirty="0"/>
          </a:p>
        </p:txBody>
      </p:sp>
      <p:sp>
        <p:nvSpPr>
          <p:cNvPr id="18" name="Shape 16"/>
          <p:cNvSpPr/>
          <p:nvPr/>
        </p:nvSpPr>
        <p:spPr>
          <a:xfrm>
            <a:off x="6217920" y="3977640"/>
            <a:ext cx="164592" cy="164592"/>
          </a:xfrm>
          <a:prstGeom prst="ellipse">
            <a:avLst/>
          </a:prstGeom>
          <a:solidFill>
            <a:srgbClr val="8FBC8F"/>
          </a:solidFill>
          <a:ln w="12700">
            <a:solidFill>
              <a:srgbClr val="8FBC8F"/>
            </a:solidFill>
            <a:prstDash val="solid"/>
          </a:ln>
        </p:spPr>
      </p:sp>
      <p:sp>
        <p:nvSpPr>
          <p:cNvPr id="19" name="Text 17"/>
          <p:cNvSpPr/>
          <p:nvPr/>
        </p:nvSpPr>
        <p:spPr>
          <a:xfrm>
            <a:off x="6492240" y="3886200"/>
            <a:ext cx="1737360" cy="365760"/>
          </a:xfrm>
          <a:prstGeom prst="rect">
            <a:avLst/>
          </a:prstGeom>
          <a:noFill/>
          <a:ln/>
        </p:spPr>
        <p:txBody>
          <a:bodyPr wrap="square" lIns="0" tIns="0" rIns="0" bIns="0" rtlCol="0" anchor="ctr"/>
          <a:lstStyle/>
          <a:p>
            <a:pPr indent="0" marL="0">
              <a:buNone/>
            </a:pPr>
            <a:r>
              <a:rPr lang="en-US" sz="1300" b="1" dirty="0">
                <a:solidFill>
                  <a:srgbClr val="2E5266"/>
                </a:solidFill>
                <a:latin typeface="Calibri" pitchFamily="34" charset="0"/>
                <a:ea typeface="Calibri" pitchFamily="34" charset="-122"/>
                <a:cs typeface="Calibri" pitchFamily="34" charset="-120"/>
              </a:rPr>
              <a:t>Volatility</a:t>
            </a:r>
            <a:endParaRPr lang="en-US" sz="1300" dirty="0"/>
          </a:p>
        </p:txBody>
      </p:sp>
      <p:sp>
        <p:nvSpPr>
          <p:cNvPr id="20" name="Text 18"/>
          <p:cNvSpPr/>
          <p:nvPr/>
        </p:nvSpPr>
        <p:spPr>
          <a:xfrm>
            <a:off x="8229600" y="3886200"/>
            <a:ext cx="347472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12-month σ of excess returns</a:t>
            </a:r>
            <a:endParaRPr lang="en-US" sz="1200" dirty="0"/>
          </a:p>
        </p:txBody>
      </p:sp>
      <p:sp>
        <p:nvSpPr>
          <p:cNvPr id="21" name="Shape 19"/>
          <p:cNvSpPr/>
          <p:nvPr/>
        </p:nvSpPr>
        <p:spPr>
          <a:xfrm>
            <a:off x="6217920" y="4480560"/>
            <a:ext cx="164592" cy="164592"/>
          </a:xfrm>
          <a:prstGeom prst="ellipse">
            <a:avLst/>
          </a:prstGeom>
          <a:solidFill>
            <a:srgbClr val="8FBC8F"/>
          </a:solidFill>
          <a:ln w="12700">
            <a:solidFill>
              <a:srgbClr val="8FBC8F"/>
            </a:solidFill>
            <a:prstDash val="solid"/>
          </a:ln>
        </p:spPr>
      </p:sp>
      <p:sp>
        <p:nvSpPr>
          <p:cNvPr id="22" name="Text 20"/>
          <p:cNvSpPr/>
          <p:nvPr/>
        </p:nvSpPr>
        <p:spPr>
          <a:xfrm>
            <a:off x="6492240" y="4389120"/>
            <a:ext cx="1737360" cy="365760"/>
          </a:xfrm>
          <a:prstGeom prst="rect">
            <a:avLst/>
          </a:prstGeom>
          <a:noFill/>
          <a:ln/>
        </p:spPr>
        <p:txBody>
          <a:bodyPr wrap="square" lIns="0" tIns="0" rIns="0" bIns="0" rtlCol="0" anchor="ctr"/>
          <a:lstStyle/>
          <a:p>
            <a:pPr indent="0" marL="0">
              <a:buNone/>
            </a:pPr>
            <a:r>
              <a:rPr lang="en-US" sz="1300" b="1" dirty="0">
                <a:solidFill>
                  <a:srgbClr val="2E5266"/>
                </a:solidFill>
                <a:latin typeface="Calibri" pitchFamily="34" charset="0"/>
                <a:ea typeface="Calibri" pitchFamily="34" charset="-122"/>
                <a:cs typeface="Calibri" pitchFamily="34" charset="-120"/>
              </a:rPr>
              <a:t>Size</a:t>
            </a:r>
            <a:endParaRPr lang="en-US" sz="1300" dirty="0"/>
          </a:p>
        </p:txBody>
      </p:sp>
      <p:sp>
        <p:nvSpPr>
          <p:cNvPr id="23" name="Text 21"/>
          <p:cNvSpPr/>
          <p:nvPr/>
        </p:nvSpPr>
        <p:spPr>
          <a:xfrm>
            <a:off x="8229600" y="4389120"/>
            <a:ext cx="347472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Log market cap, lagged 1 month</a:t>
            </a:r>
            <a:endParaRPr lang="en-US" sz="1200" dirty="0"/>
          </a:p>
        </p:txBody>
      </p:sp>
      <p:sp>
        <p:nvSpPr>
          <p:cNvPr id="24" name="Shape 22"/>
          <p:cNvSpPr/>
          <p:nvPr/>
        </p:nvSpPr>
        <p:spPr>
          <a:xfrm>
            <a:off x="6217920" y="4983480"/>
            <a:ext cx="164592" cy="164592"/>
          </a:xfrm>
          <a:prstGeom prst="ellipse">
            <a:avLst/>
          </a:prstGeom>
          <a:solidFill>
            <a:srgbClr val="8FBC8F"/>
          </a:solidFill>
          <a:ln w="12700">
            <a:solidFill>
              <a:srgbClr val="8FBC8F"/>
            </a:solidFill>
            <a:prstDash val="solid"/>
          </a:ln>
        </p:spPr>
      </p:sp>
      <p:sp>
        <p:nvSpPr>
          <p:cNvPr id="25" name="Text 23"/>
          <p:cNvSpPr/>
          <p:nvPr/>
        </p:nvSpPr>
        <p:spPr>
          <a:xfrm>
            <a:off x="6492240" y="4892040"/>
            <a:ext cx="1737360" cy="365760"/>
          </a:xfrm>
          <a:prstGeom prst="rect">
            <a:avLst/>
          </a:prstGeom>
          <a:noFill/>
          <a:ln/>
        </p:spPr>
        <p:txBody>
          <a:bodyPr wrap="square" lIns="0" tIns="0" rIns="0" bIns="0" rtlCol="0" anchor="ctr"/>
          <a:lstStyle/>
          <a:p>
            <a:pPr indent="0" marL="0">
              <a:buNone/>
            </a:pPr>
            <a:r>
              <a:rPr lang="en-US" sz="1300" b="1" dirty="0">
                <a:solidFill>
                  <a:srgbClr val="2E5266"/>
                </a:solidFill>
                <a:latin typeface="Calibri" pitchFamily="34" charset="0"/>
                <a:ea typeface="Calibri" pitchFamily="34" charset="-122"/>
                <a:cs typeface="Calibri" pitchFamily="34" charset="-120"/>
              </a:rPr>
              <a:t>Macro</a:t>
            </a:r>
            <a:endParaRPr lang="en-US" sz="1300" dirty="0"/>
          </a:p>
        </p:txBody>
      </p:sp>
      <p:sp>
        <p:nvSpPr>
          <p:cNvPr id="26" name="Text 24"/>
          <p:cNvSpPr/>
          <p:nvPr/>
        </p:nvSpPr>
        <p:spPr>
          <a:xfrm>
            <a:off x="8229600" y="4892040"/>
            <a:ext cx="347472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10Y yield, FFR, VIX — lagged 1 month</a:t>
            </a:r>
            <a:endParaRPr lang="en-US" sz="1200" dirty="0"/>
          </a:p>
        </p:txBody>
      </p:sp>
      <p:sp>
        <p:nvSpPr>
          <p:cNvPr id="27" name="Shape 25"/>
          <p:cNvSpPr/>
          <p:nvPr/>
        </p:nvSpPr>
        <p:spPr>
          <a:xfrm>
            <a:off x="6217920" y="5486400"/>
            <a:ext cx="164592" cy="164592"/>
          </a:xfrm>
          <a:prstGeom prst="ellipse">
            <a:avLst/>
          </a:prstGeom>
          <a:solidFill>
            <a:srgbClr val="8FBC8F"/>
          </a:solidFill>
          <a:ln w="12700">
            <a:solidFill>
              <a:srgbClr val="8FBC8F"/>
            </a:solidFill>
            <a:prstDash val="solid"/>
          </a:ln>
        </p:spPr>
      </p:sp>
      <p:sp>
        <p:nvSpPr>
          <p:cNvPr id="28" name="Text 26"/>
          <p:cNvSpPr/>
          <p:nvPr/>
        </p:nvSpPr>
        <p:spPr>
          <a:xfrm>
            <a:off x="6492240" y="5394960"/>
            <a:ext cx="1737360" cy="365760"/>
          </a:xfrm>
          <a:prstGeom prst="rect">
            <a:avLst/>
          </a:prstGeom>
          <a:noFill/>
          <a:ln/>
        </p:spPr>
        <p:txBody>
          <a:bodyPr wrap="square" lIns="0" tIns="0" rIns="0" bIns="0" rtlCol="0" anchor="ctr"/>
          <a:lstStyle/>
          <a:p>
            <a:pPr indent="0" marL="0">
              <a:buNone/>
            </a:pPr>
            <a:r>
              <a:rPr lang="en-US" sz="1300" b="1" dirty="0">
                <a:solidFill>
                  <a:srgbClr val="2E5266"/>
                </a:solidFill>
                <a:latin typeface="Calibri" pitchFamily="34" charset="0"/>
                <a:ea typeface="Calibri" pitchFamily="34" charset="-122"/>
                <a:cs typeface="Calibri" pitchFamily="34" charset="-120"/>
              </a:rPr>
              <a:t>FF5 returns</a:t>
            </a:r>
            <a:endParaRPr lang="en-US" sz="1300" dirty="0"/>
          </a:p>
        </p:txBody>
      </p:sp>
      <p:sp>
        <p:nvSpPr>
          <p:cNvPr id="29" name="Text 27"/>
          <p:cNvSpPr/>
          <p:nvPr/>
        </p:nvSpPr>
        <p:spPr>
          <a:xfrm>
            <a:off x="8229600" y="5394960"/>
            <a:ext cx="3474720" cy="3657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All five factors — lagged 2 months</a:t>
            </a:r>
            <a:endParaRPr lang="en-US" sz="1200" dirty="0"/>
          </a:p>
        </p:txBody>
      </p:sp>
      <p:sp>
        <p:nvSpPr>
          <p:cNvPr id="30" name="Text 28"/>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31" name="Text 29"/>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SOURCES &amp; COVERAGE</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Data assembly</a:t>
            </a:r>
            <a:endParaRPr lang="en-US" sz="3000" dirty="0"/>
          </a:p>
        </p:txBody>
      </p:sp>
      <p:sp>
        <p:nvSpPr>
          <p:cNvPr id="4" name="Shape 2"/>
          <p:cNvSpPr/>
          <p:nvPr/>
        </p:nvSpPr>
        <p:spPr>
          <a:xfrm>
            <a:off x="548640" y="1691640"/>
            <a:ext cx="2697480" cy="1554480"/>
          </a:xfrm>
          <a:prstGeom prst="rect">
            <a:avLst/>
          </a:prstGeom>
          <a:solidFill>
            <a:srgbClr val="F4F7F9"/>
          </a:solidFill>
          <a:ln w="12700">
            <a:solidFill>
              <a:srgbClr val="DDE5EC"/>
            </a:solidFill>
            <a:prstDash val="solid"/>
          </a:ln>
        </p:spPr>
      </p:sp>
      <p:sp>
        <p:nvSpPr>
          <p:cNvPr id="5" name="Text 3"/>
          <p:cNvSpPr/>
          <p:nvPr/>
        </p:nvSpPr>
        <p:spPr>
          <a:xfrm>
            <a:off x="548640" y="1783080"/>
            <a:ext cx="2697480" cy="868680"/>
          </a:xfrm>
          <a:prstGeom prst="rect">
            <a:avLst/>
          </a:prstGeom>
          <a:noFill/>
          <a:ln/>
        </p:spPr>
        <p:txBody>
          <a:bodyPr wrap="square" lIns="0" tIns="0" rIns="0" bIns="0" rtlCol="0" anchor="ctr"/>
          <a:lstStyle/>
          <a:p>
            <a:pPr algn="ctr" indent="0" marL="0">
              <a:buNone/>
            </a:pPr>
            <a:r>
              <a:rPr lang="en-US" sz="4000" b="1" dirty="0">
                <a:solidFill>
                  <a:srgbClr val="2E5266"/>
                </a:solidFill>
                <a:latin typeface="Georgia" pitchFamily="34" charset="0"/>
                <a:ea typeface="Georgia" pitchFamily="34" charset="-122"/>
                <a:cs typeface="Georgia" pitchFamily="34" charset="-120"/>
              </a:rPr>
              <a:t>498</a:t>
            </a:r>
            <a:endParaRPr lang="en-US" sz="4000" dirty="0"/>
          </a:p>
        </p:txBody>
      </p:sp>
      <p:sp>
        <p:nvSpPr>
          <p:cNvPr id="6" name="Text 4"/>
          <p:cNvSpPr/>
          <p:nvPr/>
        </p:nvSpPr>
        <p:spPr>
          <a:xfrm>
            <a:off x="548640" y="2697480"/>
            <a:ext cx="26974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Permnos in panel</a:t>
            </a:r>
            <a:endParaRPr lang="en-US" sz="1200" dirty="0"/>
          </a:p>
        </p:txBody>
      </p:sp>
      <p:sp>
        <p:nvSpPr>
          <p:cNvPr id="7" name="Shape 5"/>
          <p:cNvSpPr/>
          <p:nvPr/>
        </p:nvSpPr>
        <p:spPr>
          <a:xfrm>
            <a:off x="3410712" y="1691640"/>
            <a:ext cx="2697480" cy="1554480"/>
          </a:xfrm>
          <a:prstGeom prst="rect">
            <a:avLst/>
          </a:prstGeom>
          <a:solidFill>
            <a:srgbClr val="F4F7F9"/>
          </a:solidFill>
          <a:ln w="12700">
            <a:solidFill>
              <a:srgbClr val="DDE5EC"/>
            </a:solidFill>
            <a:prstDash val="solid"/>
          </a:ln>
        </p:spPr>
      </p:sp>
      <p:sp>
        <p:nvSpPr>
          <p:cNvPr id="8" name="Text 6"/>
          <p:cNvSpPr/>
          <p:nvPr/>
        </p:nvSpPr>
        <p:spPr>
          <a:xfrm>
            <a:off x="3410712" y="1783080"/>
            <a:ext cx="2697480" cy="868680"/>
          </a:xfrm>
          <a:prstGeom prst="rect">
            <a:avLst/>
          </a:prstGeom>
          <a:noFill/>
          <a:ln/>
        </p:spPr>
        <p:txBody>
          <a:bodyPr wrap="square" lIns="0" tIns="0" rIns="0" bIns="0" rtlCol="0" anchor="ctr"/>
          <a:lstStyle/>
          <a:p>
            <a:pPr algn="ctr" indent="0" marL="0">
              <a:buNone/>
            </a:pPr>
            <a:r>
              <a:rPr lang="en-US" sz="4000" b="1" dirty="0">
                <a:solidFill>
                  <a:srgbClr val="2E5266"/>
                </a:solidFill>
                <a:latin typeface="Georgia" pitchFamily="34" charset="0"/>
                <a:ea typeface="Georgia" pitchFamily="34" charset="-122"/>
                <a:cs typeface="Georgia" pitchFamily="34" charset="-120"/>
              </a:rPr>
              <a:t>132</a:t>
            </a:r>
            <a:endParaRPr lang="en-US" sz="4000" dirty="0"/>
          </a:p>
        </p:txBody>
      </p:sp>
      <p:sp>
        <p:nvSpPr>
          <p:cNvPr id="9" name="Text 7"/>
          <p:cNvSpPr/>
          <p:nvPr/>
        </p:nvSpPr>
        <p:spPr>
          <a:xfrm>
            <a:off x="3410712" y="2697480"/>
            <a:ext cx="26974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Months of data</a:t>
            </a:r>
            <a:endParaRPr lang="en-US" sz="1200" dirty="0"/>
          </a:p>
        </p:txBody>
      </p:sp>
      <p:sp>
        <p:nvSpPr>
          <p:cNvPr id="10" name="Shape 8"/>
          <p:cNvSpPr/>
          <p:nvPr/>
        </p:nvSpPr>
        <p:spPr>
          <a:xfrm>
            <a:off x="6272784" y="1691640"/>
            <a:ext cx="2697480" cy="1554480"/>
          </a:xfrm>
          <a:prstGeom prst="rect">
            <a:avLst/>
          </a:prstGeom>
          <a:solidFill>
            <a:srgbClr val="F4F7F9"/>
          </a:solidFill>
          <a:ln w="12700">
            <a:solidFill>
              <a:srgbClr val="DDE5EC"/>
            </a:solidFill>
            <a:prstDash val="solid"/>
          </a:ln>
        </p:spPr>
      </p:sp>
      <p:sp>
        <p:nvSpPr>
          <p:cNvPr id="11" name="Text 9"/>
          <p:cNvSpPr/>
          <p:nvPr/>
        </p:nvSpPr>
        <p:spPr>
          <a:xfrm>
            <a:off x="6272784" y="1783080"/>
            <a:ext cx="2697480" cy="868680"/>
          </a:xfrm>
          <a:prstGeom prst="rect">
            <a:avLst/>
          </a:prstGeom>
          <a:noFill/>
          <a:ln/>
        </p:spPr>
        <p:txBody>
          <a:bodyPr wrap="square" lIns="0" tIns="0" rIns="0" bIns="0" rtlCol="0" anchor="ctr"/>
          <a:lstStyle/>
          <a:p>
            <a:pPr algn="ctr" indent="0" marL="0">
              <a:buNone/>
            </a:pPr>
            <a:r>
              <a:rPr lang="en-US" sz="4000" b="1" dirty="0">
                <a:solidFill>
                  <a:srgbClr val="2E5266"/>
                </a:solidFill>
                <a:latin typeface="Georgia" pitchFamily="34" charset="0"/>
                <a:ea typeface="Georgia" pitchFamily="34" charset="-122"/>
                <a:cs typeface="Georgia" pitchFamily="34" charset="-120"/>
              </a:rPr>
              <a:t>52,221</a:t>
            </a:r>
            <a:endParaRPr lang="en-US" sz="4000" dirty="0"/>
          </a:p>
        </p:txBody>
      </p:sp>
      <p:sp>
        <p:nvSpPr>
          <p:cNvPr id="12" name="Text 10"/>
          <p:cNvSpPr/>
          <p:nvPr/>
        </p:nvSpPr>
        <p:spPr>
          <a:xfrm>
            <a:off x="6272784" y="2697480"/>
            <a:ext cx="26974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Stock-months</a:t>
            </a:r>
            <a:endParaRPr lang="en-US" sz="1200" dirty="0"/>
          </a:p>
        </p:txBody>
      </p:sp>
      <p:sp>
        <p:nvSpPr>
          <p:cNvPr id="13" name="Shape 11"/>
          <p:cNvSpPr/>
          <p:nvPr/>
        </p:nvSpPr>
        <p:spPr>
          <a:xfrm>
            <a:off x="9134856" y="1691640"/>
            <a:ext cx="2697480" cy="1554480"/>
          </a:xfrm>
          <a:prstGeom prst="rect">
            <a:avLst/>
          </a:prstGeom>
          <a:solidFill>
            <a:srgbClr val="F4F7F9"/>
          </a:solidFill>
          <a:ln w="12700">
            <a:solidFill>
              <a:srgbClr val="DDE5EC"/>
            </a:solidFill>
            <a:prstDash val="solid"/>
          </a:ln>
        </p:spPr>
      </p:sp>
      <p:sp>
        <p:nvSpPr>
          <p:cNvPr id="14" name="Text 12"/>
          <p:cNvSpPr/>
          <p:nvPr/>
        </p:nvSpPr>
        <p:spPr>
          <a:xfrm>
            <a:off x="9134856" y="1783080"/>
            <a:ext cx="2697480" cy="868680"/>
          </a:xfrm>
          <a:prstGeom prst="rect">
            <a:avLst/>
          </a:prstGeom>
          <a:noFill/>
          <a:ln/>
        </p:spPr>
        <p:txBody>
          <a:bodyPr wrap="square" lIns="0" tIns="0" rIns="0" bIns="0" rtlCol="0" anchor="ctr"/>
          <a:lstStyle/>
          <a:p>
            <a:pPr algn="ctr" indent="0" marL="0">
              <a:buNone/>
            </a:pPr>
            <a:r>
              <a:rPr lang="en-US" sz="4000" b="1" dirty="0">
                <a:solidFill>
                  <a:srgbClr val="2E5266"/>
                </a:solidFill>
                <a:latin typeface="Georgia" pitchFamily="34" charset="0"/>
                <a:ea typeface="Georgia" pitchFamily="34" charset="-122"/>
                <a:cs typeface="Georgia" pitchFamily="34" charset="-120"/>
              </a:rPr>
              <a:t>67%</a:t>
            </a:r>
            <a:endParaRPr lang="en-US" sz="4000" dirty="0"/>
          </a:p>
        </p:txBody>
      </p:sp>
      <p:sp>
        <p:nvSpPr>
          <p:cNvPr id="15" name="Text 13"/>
          <p:cNvSpPr/>
          <p:nvPr/>
        </p:nvSpPr>
        <p:spPr>
          <a:xfrm>
            <a:off x="9134856" y="2697480"/>
            <a:ext cx="26974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Modelable rows</a:t>
            </a:r>
            <a:endParaRPr lang="en-US" sz="1200" dirty="0"/>
          </a:p>
        </p:txBody>
      </p:sp>
      <p:sp>
        <p:nvSpPr>
          <p:cNvPr id="16" name="Text 14"/>
          <p:cNvSpPr/>
          <p:nvPr/>
        </p:nvSpPr>
        <p:spPr>
          <a:xfrm>
            <a:off x="548640" y="3657600"/>
            <a:ext cx="1097280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DATA SOURCES</a:t>
            </a:r>
            <a:endParaRPr lang="en-US" sz="1100" dirty="0"/>
          </a:p>
        </p:txBody>
      </p:sp>
      <p:sp>
        <p:nvSpPr>
          <p:cNvPr id="17" name="Shape 15"/>
          <p:cNvSpPr/>
          <p:nvPr/>
        </p:nvSpPr>
        <p:spPr>
          <a:xfrm>
            <a:off x="548640" y="4114800"/>
            <a:ext cx="1828800" cy="457200"/>
          </a:xfrm>
          <a:prstGeom prst="rect">
            <a:avLst/>
          </a:prstGeom>
          <a:solidFill>
            <a:srgbClr val="2E5266"/>
          </a:solidFill>
          <a:ln w="12700">
            <a:solidFill>
              <a:srgbClr val="2E5266"/>
            </a:solidFill>
            <a:prstDash val="solid"/>
          </a:ln>
        </p:spPr>
      </p:sp>
      <p:sp>
        <p:nvSpPr>
          <p:cNvPr id="18" name="Text 16"/>
          <p:cNvSpPr/>
          <p:nvPr/>
        </p:nvSpPr>
        <p:spPr>
          <a:xfrm>
            <a:off x="548640" y="411480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CRSP</a:t>
            </a:r>
            <a:endParaRPr lang="en-US" sz="1400" dirty="0"/>
          </a:p>
        </p:txBody>
      </p:sp>
      <p:sp>
        <p:nvSpPr>
          <p:cNvPr id="19" name="Text 17"/>
          <p:cNvSpPr/>
          <p:nvPr/>
        </p:nvSpPr>
        <p:spPr>
          <a:xfrm>
            <a:off x="2560320" y="4114800"/>
            <a:ext cx="90525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Membership · Returns · SIC history · CCM/GICS</a:t>
            </a:r>
            <a:endParaRPr lang="en-US" sz="1300" dirty="0"/>
          </a:p>
        </p:txBody>
      </p:sp>
      <p:sp>
        <p:nvSpPr>
          <p:cNvPr id="20" name="Shape 18"/>
          <p:cNvSpPr/>
          <p:nvPr/>
        </p:nvSpPr>
        <p:spPr>
          <a:xfrm>
            <a:off x="548640" y="4754880"/>
            <a:ext cx="1828800" cy="457200"/>
          </a:xfrm>
          <a:prstGeom prst="rect">
            <a:avLst/>
          </a:prstGeom>
          <a:solidFill>
            <a:srgbClr val="2E5266"/>
          </a:solidFill>
          <a:ln w="12700">
            <a:solidFill>
              <a:srgbClr val="2E5266"/>
            </a:solidFill>
            <a:prstDash val="solid"/>
          </a:ln>
        </p:spPr>
      </p:sp>
      <p:sp>
        <p:nvSpPr>
          <p:cNvPr id="21" name="Text 19"/>
          <p:cNvSpPr/>
          <p:nvPr/>
        </p:nvSpPr>
        <p:spPr>
          <a:xfrm>
            <a:off x="548640" y="475488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Ken French</a:t>
            </a:r>
            <a:endParaRPr lang="en-US" sz="1400" dirty="0"/>
          </a:p>
        </p:txBody>
      </p:sp>
      <p:sp>
        <p:nvSpPr>
          <p:cNvPr id="22" name="Text 20"/>
          <p:cNvSpPr/>
          <p:nvPr/>
        </p:nvSpPr>
        <p:spPr>
          <a:xfrm>
            <a:off x="2560320" y="4754880"/>
            <a:ext cx="90525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FF5 factors · FF12 industry definitions</a:t>
            </a:r>
            <a:endParaRPr lang="en-US" sz="1300" dirty="0"/>
          </a:p>
        </p:txBody>
      </p:sp>
      <p:sp>
        <p:nvSpPr>
          <p:cNvPr id="23" name="Shape 21"/>
          <p:cNvSpPr/>
          <p:nvPr/>
        </p:nvSpPr>
        <p:spPr>
          <a:xfrm>
            <a:off x="548640" y="5394960"/>
            <a:ext cx="1828800" cy="457200"/>
          </a:xfrm>
          <a:prstGeom prst="rect">
            <a:avLst/>
          </a:prstGeom>
          <a:solidFill>
            <a:srgbClr val="2E5266"/>
          </a:solidFill>
          <a:ln w="12700">
            <a:solidFill>
              <a:srgbClr val="2E5266"/>
            </a:solidFill>
            <a:prstDash val="solid"/>
          </a:ln>
        </p:spPr>
      </p:sp>
      <p:sp>
        <p:nvSpPr>
          <p:cNvPr id="24" name="Text 22"/>
          <p:cNvSpPr/>
          <p:nvPr/>
        </p:nvSpPr>
        <p:spPr>
          <a:xfrm>
            <a:off x="548640" y="539496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FRED</a:t>
            </a:r>
            <a:endParaRPr lang="en-US" sz="1400" dirty="0"/>
          </a:p>
        </p:txBody>
      </p:sp>
      <p:sp>
        <p:nvSpPr>
          <p:cNvPr id="25" name="Text 23"/>
          <p:cNvSpPr/>
          <p:nvPr/>
        </p:nvSpPr>
        <p:spPr>
          <a:xfrm>
            <a:off x="2560320" y="5394960"/>
            <a:ext cx="90525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10Y yield · Fed funds rate · VIX</a:t>
            </a:r>
            <a:endParaRPr lang="en-US" sz="1300" dirty="0"/>
          </a:p>
        </p:txBody>
      </p:sp>
      <p:sp>
        <p:nvSpPr>
          <p:cNvPr id="26" name="Text 24"/>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27" name="Text 25"/>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K-MEANS SCHEME</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Clustering diagnostics</a:t>
            </a:r>
            <a:endParaRPr lang="en-US" sz="3000" dirty="0"/>
          </a:p>
        </p:txBody>
      </p:sp>
      <p:sp>
        <p:nvSpPr>
          <p:cNvPr id="4" name="Text 2"/>
          <p:cNvSpPr/>
          <p:nvPr/>
        </p:nvSpPr>
        <p:spPr>
          <a:xfrm>
            <a:off x="548640" y="1737360"/>
            <a:ext cx="5943600" cy="365760"/>
          </a:xfrm>
          <a:prstGeom prst="rect">
            <a:avLst/>
          </a:prstGeom>
          <a:noFill/>
          <a:ln/>
        </p:spPr>
        <p:txBody>
          <a:bodyPr wrap="square" lIns="0" tIns="0" rIns="0" bIns="0" rtlCol="0" anchor="ctr"/>
          <a:lstStyle/>
          <a:p>
            <a:pPr indent="0" marL="0">
              <a:buNone/>
            </a:pPr>
            <a:r>
              <a:rPr lang="en-US" sz="1400" b="1" dirty="0">
                <a:solidFill>
                  <a:srgbClr val="2E5266"/>
                </a:solidFill>
                <a:latin typeface="Calibri" pitchFamily="34" charset="0"/>
                <a:ea typeface="Calibri" pitchFamily="34" charset="-122"/>
                <a:cs typeface="Calibri" pitchFamily="34" charset="-120"/>
              </a:rPr>
              <a:t>Silhouette score by refit year</a:t>
            </a:r>
            <a:endParaRPr lang="en-US" sz="1400" dirty="0"/>
          </a:p>
        </p:txBody>
      </p:sp>
      <p:graphicFrame>
        <p:nvGraphicFramePr>
          <p:cNvPr id="5" name="Chart 0" descr=""/>
          <p:cNvGraphicFramePr/>
          <p:nvPr/>
        </p:nvGraphicFramePr>
        <p:xfrm>
          <a:off x="548640" y="2194560"/>
          <a:ext cx="594360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1691640"/>
            <a:ext cx="4754880" cy="4389120"/>
          </a:xfrm>
          <a:prstGeom prst="rect">
            <a:avLst/>
          </a:prstGeom>
          <a:solidFill>
            <a:srgbClr val="F4F7F9"/>
          </a:solidFill>
          <a:ln w="12700">
            <a:solidFill>
              <a:srgbClr val="DDE5EC"/>
            </a:solidFill>
            <a:prstDash val="solid"/>
          </a:ln>
        </p:spPr>
      </p:sp>
      <p:sp>
        <p:nvSpPr>
          <p:cNvPr id="7" name="Text 4"/>
          <p:cNvSpPr/>
          <p:nvPr/>
        </p:nvSpPr>
        <p:spPr>
          <a:xfrm>
            <a:off x="7086600" y="1874520"/>
            <a:ext cx="438912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WHAT WE FOUND</a:t>
            </a:r>
            <a:endParaRPr lang="en-US" sz="1100" dirty="0"/>
          </a:p>
        </p:txBody>
      </p:sp>
      <p:sp>
        <p:nvSpPr>
          <p:cNvPr id="8" name="Text 5"/>
          <p:cNvSpPr/>
          <p:nvPr/>
        </p:nvSpPr>
        <p:spPr>
          <a:xfrm>
            <a:off x="7086600" y="2286000"/>
            <a:ext cx="4389120" cy="914400"/>
          </a:xfrm>
          <a:prstGeom prst="rect">
            <a:avLst/>
          </a:prstGeom>
          <a:noFill/>
          <a:ln/>
        </p:spPr>
        <p:txBody>
          <a:bodyPr wrap="square" lIns="0" tIns="0" rIns="0" bIns="0" rtlCol="0" anchor="ctr"/>
          <a:lstStyle/>
          <a:p>
            <a:pPr indent="0" marL="0">
              <a:buNone/>
            </a:pPr>
            <a:r>
              <a:rPr lang="en-US" sz="6000" b="1" dirty="0">
                <a:solidFill>
                  <a:srgbClr val="2E5266"/>
                </a:solidFill>
                <a:latin typeface="Georgia" pitchFamily="34" charset="0"/>
                <a:ea typeface="Georgia" pitchFamily="34" charset="-122"/>
                <a:cs typeface="Georgia" pitchFamily="34" charset="-120"/>
              </a:rPr>
              <a:t>k = 2</a:t>
            </a:r>
            <a:endParaRPr lang="en-US" sz="6000" dirty="0"/>
          </a:p>
        </p:txBody>
      </p:sp>
      <p:sp>
        <p:nvSpPr>
          <p:cNvPr id="9" name="Text 6"/>
          <p:cNvSpPr/>
          <p:nvPr/>
        </p:nvSpPr>
        <p:spPr>
          <a:xfrm>
            <a:off x="7086600" y="3246120"/>
            <a:ext cx="438912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at every annual refit</a:t>
            </a:r>
            <a:endParaRPr lang="en-US" sz="1400" dirty="0"/>
          </a:p>
        </p:txBody>
      </p:sp>
      <p:sp>
        <p:nvSpPr>
          <p:cNvPr id="10" name="Shape 7"/>
          <p:cNvSpPr/>
          <p:nvPr/>
        </p:nvSpPr>
        <p:spPr>
          <a:xfrm>
            <a:off x="7086600" y="3749040"/>
            <a:ext cx="914400" cy="0"/>
          </a:xfrm>
          <a:prstGeom prst="line">
            <a:avLst/>
          </a:prstGeom>
          <a:noFill/>
          <a:ln w="25400">
            <a:solidFill>
              <a:srgbClr val="8FBC8F"/>
            </a:solidFill>
            <a:prstDash val="solid"/>
          </a:ln>
        </p:spPr>
      </p:sp>
      <p:sp>
        <p:nvSpPr>
          <p:cNvPr id="11" name="Text 8"/>
          <p:cNvSpPr/>
          <p:nvPr/>
        </p:nvSpPr>
        <p:spPr>
          <a:xfrm>
            <a:off x="7086600" y="3931920"/>
            <a:ext cx="4389120" cy="128016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Silhouette consistently picks two clusters — suggesting the dominant axis of co-movement is binary (likely cyclical vs. defensive, or high- vs. low-beta).</a:t>
            </a:r>
            <a:endParaRPr lang="en-US" sz="1200" dirty="0"/>
          </a:p>
        </p:txBody>
      </p:sp>
      <p:sp>
        <p:nvSpPr>
          <p:cNvPr id="12" name="Text 9"/>
          <p:cNvSpPr/>
          <p:nvPr/>
        </p:nvSpPr>
        <p:spPr>
          <a:xfrm>
            <a:off x="7086600" y="5257800"/>
            <a:ext cx="4389120" cy="777240"/>
          </a:xfrm>
          <a:prstGeom prst="rect">
            <a:avLst/>
          </a:prstGeom>
          <a:noFill/>
          <a:ln/>
        </p:spPr>
        <p:txBody>
          <a:bodyPr wrap="square" lIns="0" tIns="0" rIns="0" bIns="0" rtlCol="0" anchor="ctr"/>
          <a:lstStyle/>
          <a:p>
            <a:pPr indent="0" marL="0">
              <a:buNone/>
            </a:pPr>
            <a:r>
              <a:rPr lang="en-US" sz="1100" b="1" i="1" dirty="0">
                <a:solidFill>
                  <a:srgbClr val="2E5266"/>
                </a:solidFill>
                <a:latin typeface="Calibri" pitchFamily="34" charset="0"/>
                <a:ea typeface="Calibri" pitchFamily="34" charset="-122"/>
                <a:cs typeface="Calibri" pitchFamily="34" charset="-120"/>
              </a:rPr>
              <a:t>Open question: does this reflect genuine market structure, or a limitation of the silhouette criterion at higher k?</a:t>
            </a:r>
            <a:endParaRPr lang="en-US" sz="1100" dirty="0"/>
          </a:p>
        </p:txBody>
      </p:sp>
      <p:sp>
        <p:nvSpPr>
          <p:cNvPr id="13" name="Text 10"/>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14" name="Text 11"/>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COMPARISON · 1 OF 4</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How much do the schemes overlap?</a:t>
            </a:r>
            <a:endParaRPr lang="en-US" sz="3000" dirty="0"/>
          </a:p>
        </p:txBody>
      </p:sp>
      <p:sp>
        <p:nvSpPr>
          <p:cNvPr id="4" name="Text 2"/>
          <p:cNvSpPr/>
          <p:nvPr/>
        </p:nvSpPr>
        <p:spPr>
          <a:xfrm>
            <a:off x="548640" y="1691640"/>
            <a:ext cx="109728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Adjusted Rand index — partition similarity (1 = identical, 0 = random)</a:t>
            </a:r>
            <a:endParaRPr lang="en-US" sz="1300" dirty="0"/>
          </a:p>
        </p:txBody>
      </p:sp>
      <p:graphicFrame>
        <p:nvGraphicFramePr>
          <p:cNvPr id="5" name="Chart 0" descr=""/>
          <p:cNvGraphicFramePr/>
          <p:nvPr/>
        </p:nvGraphicFramePr>
        <p:xfrm>
          <a:off x="548640" y="2148840"/>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2148840"/>
            <a:ext cx="3840480" cy="3931920"/>
          </a:xfrm>
          <a:prstGeom prst="rect">
            <a:avLst/>
          </a:prstGeom>
          <a:solidFill>
            <a:srgbClr val="2E5266"/>
          </a:solidFill>
          <a:ln w="12700">
            <a:solidFill>
              <a:srgbClr val="2E5266"/>
            </a:solidFill>
            <a:prstDash val="solid"/>
          </a:ln>
        </p:spPr>
      </p:sp>
      <p:sp>
        <p:nvSpPr>
          <p:cNvPr id="7" name="Text 4"/>
          <p:cNvSpPr/>
          <p:nvPr/>
        </p:nvSpPr>
        <p:spPr>
          <a:xfrm>
            <a:off x="7955280" y="2331720"/>
            <a:ext cx="347472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READING IT</a:t>
            </a:r>
            <a:endParaRPr lang="en-US" sz="1100" dirty="0"/>
          </a:p>
        </p:txBody>
      </p:sp>
      <p:sp>
        <p:nvSpPr>
          <p:cNvPr id="8" name="Text 5"/>
          <p:cNvSpPr/>
          <p:nvPr/>
        </p:nvSpPr>
        <p:spPr>
          <a:xfrm>
            <a:off x="7955280" y="2697480"/>
            <a:ext cx="3474720" cy="32918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GICS and FF12 agree moderately</a:t>
            </a:r>
            <a:endParaRPr lang="en-US" sz="1100" dirty="0"/>
          </a:p>
          <a:p>
            <a:pPr indent="0" marL="0">
              <a:buNone/>
            </a:pPr>
            <a:r>
              <a:rPr lang="en-US" sz="1100" dirty="0">
                <a:solidFill>
                  <a:srgbClr val="D6E4EC"/>
                </a:solidFill>
                <a:latin typeface="Calibri" pitchFamily="34" charset="0"/>
                <a:ea typeface="Calibri" pitchFamily="34" charset="-122"/>
                <a:cs typeface="Calibri" pitchFamily="34" charset="-120"/>
              </a:rPr>
              <a:t>Both organize firms around what they do — same underlying logic.</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Clusters look genuinely different</a:t>
            </a:r>
            <a:endParaRPr lang="en-US" sz="1100" dirty="0"/>
          </a:p>
          <a:p>
            <a:pPr indent="0" marL="0">
              <a:buNone/>
            </a:pPr>
            <a:r>
              <a:rPr lang="en-US" sz="1100" dirty="0">
                <a:solidFill>
                  <a:srgbClr val="D6E4EC"/>
                </a:solidFill>
                <a:latin typeface="Calibri" pitchFamily="34" charset="0"/>
                <a:ea typeface="Calibri" pitchFamily="34" charset="-122"/>
                <a:cs typeface="Calibri" pitchFamily="34" charset="-120"/>
              </a:rPr>
              <a:t>Near-zero overlap means co-movement structure is not reducible to industry codes.</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8FBC8F"/>
                </a:solidFill>
                <a:latin typeface="Calibri" pitchFamily="34" charset="0"/>
                <a:ea typeface="Calibri" pitchFamily="34" charset="-122"/>
                <a:cs typeface="Calibri" pitchFamily="34" charset="-120"/>
              </a:rPr>
              <a:t>Caveat:</a:t>
            </a:r>
            <a:pPr indent="0" marL="0">
              <a:buNone/>
            </a:pPr>
            <a:r>
              <a:rPr lang="en-US" sz="1100" i="1" dirty="0">
                <a:solidFill>
                  <a:srgbClr val="D6E4EC"/>
                </a:solidFill>
                <a:latin typeface="Calibri" pitchFamily="34" charset="0"/>
                <a:ea typeface="Calibri" pitchFamily="34" charset="-122"/>
                <a:cs typeface="Calibri" pitchFamily="34" charset="-120"/>
              </a:rPr>
              <a:t> low ARI is partly mechanical when k=2 is compared against k=11 or 12.</a:t>
            </a:r>
            <a:endParaRPr lang="en-US" sz="1100" dirty="0"/>
          </a:p>
        </p:txBody>
      </p:sp>
      <p:sp>
        <p:nvSpPr>
          <p:cNvPr id="9" name="Text 6"/>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10" name="Text 7"/>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COMPARISON · 2 OF 4</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How similar are members of each group?</a:t>
            </a:r>
            <a:endParaRPr lang="en-US" sz="3000" dirty="0"/>
          </a:p>
        </p:txBody>
      </p:sp>
      <p:sp>
        <p:nvSpPr>
          <p:cNvPr id="4" name="Text 2"/>
          <p:cNvSpPr/>
          <p:nvPr/>
        </p:nvSpPr>
        <p:spPr>
          <a:xfrm>
            <a:off x="548640" y="1691640"/>
            <a:ext cx="109728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Mean within-group correlation of monthly excess returns (higher = more co-moving)</a:t>
            </a:r>
            <a:endParaRPr lang="en-US" sz="1300" dirty="0"/>
          </a:p>
        </p:txBody>
      </p:sp>
      <p:graphicFrame>
        <p:nvGraphicFramePr>
          <p:cNvPr id="5" name="Chart 0" descr=""/>
          <p:cNvGraphicFramePr/>
          <p:nvPr/>
        </p:nvGraphicFramePr>
        <p:xfrm>
          <a:off x="548640" y="2148840"/>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2148840"/>
            <a:ext cx="3840480" cy="3931920"/>
          </a:xfrm>
          <a:prstGeom prst="rect">
            <a:avLst/>
          </a:prstGeom>
          <a:solidFill>
            <a:srgbClr val="F4F7F9"/>
          </a:solidFill>
          <a:ln w="12700">
            <a:solidFill>
              <a:srgbClr val="DDE5EC"/>
            </a:solidFill>
            <a:prstDash val="solid"/>
          </a:ln>
        </p:spPr>
      </p:sp>
      <p:sp>
        <p:nvSpPr>
          <p:cNvPr id="7" name="Text 4"/>
          <p:cNvSpPr/>
          <p:nvPr/>
        </p:nvSpPr>
        <p:spPr>
          <a:xfrm>
            <a:off x="7955280" y="2331720"/>
            <a:ext cx="347472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WHAT'S SURPRISING</a:t>
            </a:r>
            <a:endParaRPr lang="en-US" sz="1100" dirty="0"/>
          </a:p>
        </p:txBody>
      </p:sp>
      <p:sp>
        <p:nvSpPr>
          <p:cNvPr id="8" name="Text 5"/>
          <p:cNvSpPr/>
          <p:nvPr/>
        </p:nvSpPr>
        <p:spPr>
          <a:xfrm>
            <a:off x="7955280" y="2743200"/>
            <a:ext cx="3474720" cy="1371600"/>
          </a:xfrm>
          <a:prstGeom prst="rect">
            <a:avLst/>
          </a:prstGeom>
          <a:noFill/>
          <a:ln/>
        </p:spPr>
        <p:txBody>
          <a:bodyPr wrap="square" lIns="0" tIns="0" rIns="0" bIns="0" rtlCol="0" anchor="ctr"/>
          <a:lstStyle/>
          <a:p>
            <a:pPr indent="0" marL="0">
              <a:buNone/>
            </a:pPr>
            <a:r>
              <a:rPr lang="en-US" sz="1400" b="1" dirty="0">
                <a:solidFill>
                  <a:srgbClr val="2E5266"/>
                </a:solidFill>
                <a:latin typeface="Georgia" pitchFamily="34" charset="0"/>
                <a:ea typeface="Georgia" pitchFamily="34" charset="-122"/>
                <a:cs typeface="Georgia" pitchFamily="34" charset="-120"/>
              </a:rPr>
              <a:t>K-Means was optimized for within-group co-movement — but GICS shows higher correlation.</a:t>
            </a:r>
            <a:endParaRPr lang="en-US" sz="1400" dirty="0"/>
          </a:p>
        </p:txBody>
      </p:sp>
      <p:sp>
        <p:nvSpPr>
          <p:cNvPr id="9" name="Shape 6"/>
          <p:cNvSpPr/>
          <p:nvPr/>
        </p:nvSpPr>
        <p:spPr>
          <a:xfrm>
            <a:off x="7955280" y="4251960"/>
            <a:ext cx="914400" cy="0"/>
          </a:xfrm>
          <a:prstGeom prst="line">
            <a:avLst/>
          </a:prstGeom>
          <a:noFill/>
          <a:ln w="25400">
            <a:solidFill>
              <a:srgbClr val="8FBC8F"/>
            </a:solidFill>
            <a:prstDash val="solid"/>
          </a:ln>
        </p:spPr>
      </p:sp>
      <p:sp>
        <p:nvSpPr>
          <p:cNvPr id="10" name="Text 7"/>
          <p:cNvSpPr/>
          <p:nvPr/>
        </p:nvSpPr>
        <p:spPr>
          <a:xfrm>
            <a:off x="7955280" y="4434840"/>
            <a:ext cx="3474720" cy="1554480"/>
          </a:xfrm>
          <a:prstGeom prst="rect">
            <a:avLst/>
          </a:prstGeom>
          <a:noFill/>
          <a:ln/>
        </p:spPr>
        <p:txBody>
          <a:bodyPr wrap="square" lIns="0" tIns="0" rIns="0" bIns="0" rtlCol="0" anchor="ctr"/>
          <a:lstStyle/>
          <a:p>
            <a:pPr indent="0" marL="0">
              <a:buNone/>
            </a:pPr>
            <a:r>
              <a:rPr lang="en-US" sz="1100" i="1" dirty="0">
                <a:solidFill>
                  <a:srgbClr val="1F2937"/>
                </a:solidFill>
                <a:latin typeface="Calibri" pitchFamily="34" charset="0"/>
                <a:ea typeface="Calibri" pitchFamily="34" charset="-122"/>
                <a:cs typeface="Calibri" pitchFamily="34" charset="-120"/>
              </a:rPr>
              <a:t>Industry membership organizes co-movement well — possibly better than k=2 clustering at this granularity. Worth re-running with k matched to GICS.</a:t>
            </a:r>
            <a:endParaRPr lang="en-US" sz="1100" dirty="0"/>
          </a:p>
        </p:txBody>
      </p:sp>
      <p:sp>
        <p:nvSpPr>
          <p:cNvPr id="11" name="Text 8"/>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12" name="Text 9"/>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COMPARISON · 3 OF 4</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Predicting one-month-forward alpha</a:t>
            </a:r>
            <a:endParaRPr lang="en-US" sz="3000" dirty="0"/>
          </a:p>
        </p:txBody>
      </p:sp>
      <p:sp>
        <p:nvSpPr>
          <p:cNvPr id="4" name="Text 2"/>
          <p:cNvSpPr/>
          <p:nvPr/>
        </p:nvSpPr>
        <p:spPr>
          <a:xfrm>
            <a:off x="548640" y="1691640"/>
            <a:ext cx="109728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Out-of-sample R² on 2023–2024 holdout (Elastic Net per group, weighted)</a:t>
            </a:r>
            <a:endParaRPr lang="en-US" sz="1300" dirty="0"/>
          </a:p>
        </p:txBody>
      </p:sp>
      <p:graphicFrame>
        <p:nvGraphicFramePr>
          <p:cNvPr id="5" name="Chart 0" descr=""/>
          <p:cNvGraphicFramePr/>
          <p:nvPr/>
        </p:nvGraphicFramePr>
        <p:xfrm>
          <a:off x="548640" y="2148840"/>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2148840"/>
            <a:ext cx="3840480" cy="3931920"/>
          </a:xfrm>
          <a:prstGeom prst="rect">
            <a:avLst/>
          </a:prstGeom>
          <a:solidFill>
            <a:srgbClr val="2E5266"/>
          </a:solidFill>
          <a:ln w="12700">
            <a:solidFill>
              <a:srgbClr val="2E5266"/>
            </a:solidFill>
            <a:prstDash val="solid"/>
          </a:ln>
        </p:spPr>
      </p:sp>
      <p:sp>
        <p:nvSpPr>
          <p:cNvPr id="7" name="Text 4"/>
          <p:cNvSpPr/>
          <p:nvPr/>
        </p:nvSpPr>
        <p:spPr>
          <a:xfrm>
            <a:off x="7955280" y="2331720"/>
            <a:ext cx="347472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HONEST READ</a:t>
            </a:r>
            <a:endParaRPr lang="en-US" sz="1100" dirty="0"/>
          </a:p>
        </p:txBody>
      </p:sp>
      <p:sp>
        <p:nvSpPr>
          <p:cNvPr id="8" name="Text 5"/>
          <p:cNvSpPr/>
          <p:nvPr/>
        </p:nvSpPr>
        <p:spPr>
          <a:xfrm>
            <a:off x="7955280" y="2743200"/>
            <a:ext cx="3474720" cy="54864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All R² are negative</a:t>
            </a:r>
            <a:endParaRPr lang="en-US" sz="2200" dirty="0"/>
          </a:p>
        </p:txBody>
      </p:sp>
      <p:sp>
        <p:nvSpPr>
          <p:cNvPr id="9" name="Text 6"/>
          <p:cNvSpPr/>
          <p:nvPr/>
        </p:nvSpPr>
        <p:spPr>
          <a:xfrm>
            <a:off x="7955280" y="3383280"/>
            <a:ext cx="3474720" cy="1097280"/>
          </a:xfrm>
          <a:prstGeom prst="rect">
            <a:avLst/>
          </a:prstGeom>
          <a:noFill/>
          <a:ln/>
        </p:spPr>
        <p:txBody>
          <a:bodyPr wrap="square" lIns="0" tIns="0" rIns="0" bIns="0" rtlCol="0" anchor="ctr"/>
          <a:lstStyle/>
          <a:p>
            <a:pPr indent="0" marL="0">
              <a:buNone/>
            </a:pPr>
            <a:r>
              <a:rPr lang="en-US" sz="1200" dirty="0">
                <a:solidFill>
                  <a:srgbClr val="D6E4EC"/>
                </a:solidFill>
                <a:latin typeface="Calibri" pitchFamily="34" charset="0"/>
                <a:ea typeface="Calibri" pitchFamily="34" charset="-122"/>
                <a:cs typeface="Calibri" pitchFamily="34" charset="-120"/>
              </a:rPr>
              <a:t>No model — pooled or grouped — beats predicting the cross-sectional mean on this holdout.</a:t>
            </a:r>
            <a:endParaRPr lang="en-US" sz="1200" dirty="0"/>
          </a:p>
        </p:txBody>
      </p:sp>
      <p:sp>
        <p:nvSpPr>
          <p:cNvPr id="10" name="Shape 7"/>
          <p:cNvSpPr/>
          <p:nvPr/>
        </p:nvSpPr>
        <p:spPr>
          <a:xfrm>
            <a:off x="7955280" y="4572000"/>
            <a:ext cx="914400" cy="0"/>
          </a:xfrm>
          <a:prstGeom prst="line">
            <a:avLst/>
          </a:prstGeom>
          <a:noFill/>
          <a:ln w="25400">
            <a:solidFill>
              <a:srgbClr val="8FBC8F"/>
            </a:solidFill>
            <a:prstDash val="solid"/>
          </a:ln>
        </p:spPr>
      </p:sp>
      <p:sp>
        <p:nvSpPr>
          <p:cNvPr id="11" name="Text 8"/>
          <p:cNvSpPr/>
          <p:nvPr/>
        </p:nvSpPr>
        <p:spPr>
          <a:xfrm>
            <a:off x="7955280" y="4754880"/>
            <a:ext cx="3474720" cy="1280160"/>
          </a:xfrm>
          <a:prstGeom prst="rect">
            <a:avLst/>
          </a:prstGeom>
          <a:noFill/>
          <a:ln/>
        </p:spPr>
        <p:txBody>
          <a:bodyPr wrap="square" lIns="0" tIns="0" rIns="0" bIns="0" rtlCol="0" anchor="ctr"/>
          <a:lstStyle/>
          <a:p>
            <a:pPr indent="0" marL="0">
              <a:buNone/>
            </a:pPr>
            <a:r>
              <a:rPr lang="en-US" sz="1100" i="1" dirty="0">
                <a:solidFill>
                  <a:srgbClr val="D6E4EC"/>
                </a:solidFill>
                <a:latin typeface="Calibri" pitchFamily="34" charset="0"/>
                <a:ea typeface="Calibri" pitchFamily="34" charset="-122"/>
                <a:cs typeface="Calibri" pitchFamily="34" charset="-120"/>
              </a:rPr>
              <a:t>Open question: is one-month forward alpha forecastable from these features at all, or do we need a richer factor set / longer horizon?</a:t>
            </a:r>
            <a:endParaRPr lang="en-US" sz="1100" dirty="0"/>
          </a:p>
        </p:txBody>
      </p:sp>
      <p:sp>
        <p:nvSpPr>
          <p:cNvPr id="12" name="Text 9"/>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13" name="Text 10"/>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COMPARISON · 4 OF 4</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Do flagged anomalies underperform?</a:t>
            </a:r>
            <a:endParaRPr lang="en-US" sz="3000" dirty="0"/>
          </a:p>
        </p:txBody>
      </p:sp>
      <p:sp>
        <p:nvSpPr>
          <p:cNvPr id="4" name="Text 2"/>
          <p:cNvSpPr/>
          <p:nvPr/>
        </p:nvSpPr>
        <p:spPr>
          <a:xfrm>
            <a:off x="548640" y="1691640"/>
            <a:ext cx="109728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Mean forward alpha gap (flagged − non-flagged) by horizon and scheme</a:t>
            </a:r>
            <a:endParaRPr lang="en-US" sz="1300" dirty="0"/>
          </a:p>
        </p:txBody>
      </p:sp>
      <p:graphicFrame>
        <p:nvGraphicFramePr>
          <p:cNvPr id="5" name="Chart 0" descr=""/>
          <p:cNvGraphicFramePr/>
          <p:nvPr/>
        </p:nvGraphicFramePr>
        <p:xfrm>
          <a:off x="548640" y="2148840"/>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2148840"/>
            <a:ext cx="3840480" cy="3931920"/>
          </a:xfrm>
          <a:prstGeom prst="rect">
            <a:avLst/>
          </a:prstGeom>
          <a:solidFill>
            <a:srgbClr val="F4F7F9"/>
          </a:solidFill>
          <a:ln w="12700">
            <a:solidFill>
              <a:srgbClr val="DDE5EC"/>
            </a:solidFill>
            <a:prstDash val="solid"/>
          </a:ln>
        </p:spPr>
      </p:sp>
      <p:sp>
        <p:nvSpPr>
          <p:cNvPr id="7" name="Text 4"/>
          <p:cNvSpPr/>
          <p:nvPr/>
        </p:nvSpPr>
        <p:spPr>
          <a:xfrm>
            <a:off x="7955280" y="2331720"/>
            <a:ext cx="347472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PATTERN</a:t>
            </a:r>
            <a:endParaRPr lang="en-US" sz="1100" dirty="0"/>
          </a:p>
        </p:txBody>
      </p:sp>
      <p:sp>
        <p:nvSpPr>
          <p:cNvPr id="8" name="Text 5"/>
          <p:cNvSpPr/>
          <p:nvPr/>
        </p:nvSpPr>
        <p:spPr>
          <a:xfrm>
            <a:off x="7955280" y="2697480"/>
            <a:ext cx="3474720" cy="3337560"/>
          </a:xfrm>
          <a:prstGeom prst="rect">
            <a:avLst/>
          </a:prstGeom>
          <a:noFill/>
          <a:ln/>
        </p:spPr>
        <p:txBody>
          <a:bodyPr wrap="square" lIns="0" tIns="0" rIns="0" bIns="0" rtlCol="0" anchor="t"/>
          <a:lstStyle/>
          <a:p>
            <a:pPr indent="0" marL="0">
              <a:buNone/>
            </a:pPr>
            <a:r>
              <a:rPr lang="en-US" sz="1100" b="1" dirty="0">
                <a:solidFill>
                  <a:srgbClr val="2E5266"/>
                </a:solidFill>
                <a:latin typeface="Calibri" pitchFamily="34" charset="0"/>
                <a:ea typeface="Calibri" pitchFamily="34" charset="-122"/>
                <a:cs typeface="Calibri" pitchFamily="34" charset="-120"/>
              </a:rPr>
              <a:t>GICS: </a:t>
            </a:r>
            <a:pPr indent="0" marL="0">
              <a:buNone/>
            </a:pPr>
            <a:r>
              <a:rPr lang="en-US" sz="1100" dirty="0">
                <a:solidFill>
                  <a:srgbClr val="1F2937"/>
                </a:solidFill>
                <a:latin typeface="Calibri" pitchFamily="34" charset="0"/>
                <a:ea typeface="Calibri" pitchFamily="34" charset="-122"/>
                <a:cs typeface="Calibri" pitchFamily="34" charset="-120"/>
              </a:rPr>
              <a:t>cleanest 1-month signal, decays at 3m</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2E5266"/>
                </a:solidFill>
                <a:latin typeface="Calibri" pitchFamily="34" charset="0"/>
                <a:ea typeface="Calibri" pitchFamily="34" charset="-122"/>
                <a:cs typeface="Calibri" pitchFamily="34" charset="-120"/>
              </a:rPr>
              <a:t>FF12: </a:t>
            </a:r>
            <a:pPr indent="0" marL="0">
              <a:buNone/>
            </a:pPr>
            <a:r>
              <a:rPr lang="en-US" sz="1100" dirty="0">
                <a:solidFill>
                  <a:srgbClr val="1F2937"/>
                </a:solidFill>
                <a:latin typeface="Calibri" pitchFamily="34" charset="0"/>
                <a:ea typeface="Calibri" pitchFamily="34" charset="-122"/>
                <a:cs typeface="Calibri" pitchFamily="34" charset="-120"/>
              </a:rPr>
              <a:t>weakest signal, non-monotonic</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2E5266"/>
                </a:solidFill>
                <a:latin typeface="Calibri" pitchFamily="34" charset="0"/>
                <a:ea typeface="Calibri" pitchFamily="34" charset="-122"/>
                <a:cs typeface="Calibri" pitchFamily="34" charset="-120"/>
              </a:rPr>
              <a:t>Cluster: </a:t>
            </a:r>
            <a:pPr indent="0" marL="0">
              <a:buNone/>
            </a:pPr>
            <a:r>
              <a:rPr lang="en-US" sz="1100" dirty="0">
                <a:solidFill>
                  <a:srgbClr val="1F2937"/>
                </a:solidFill>
                <a:latin typeface="Calibri" pitchFamily="34" charset="0"/>
                <a:ea typeface="Calibri" pitchFamily="34" charset="-122"/>
                <a:cs typeface="Calibri" pitchFamily="34" charset="-120"/>
              </a:rPr>
              <a:t>sign flips positive at 3m, then back negative at 6m</a:t>
            </a:r>
            <a:endParaRPr lang="en-US" sz="1100" dirty="0"/>
          </a:p>
          <a:p>
            <a:pPr indent="0" marL="0">
              <a:buNone/>
            </a:pPr>
            <a:r>
              <a:rPr lang="en-US" sz="1100" dirty="0">
                <a:solidFill>
                  <a:srgbClr val="000000"/>
                </a:solidFill>
                <a:latin typeface="Calibri" pitchFamily="34" charset="0"/>
                <a:ea typeface="Calibri" pitchFamily="34" charset="-122"/>
                <a:cs typeface="Calibri" pitchFamily="34" charset="-120"/>
              </a:rPr>
              <a:t> </a:t>
            </a:r>
            <a:endParaRPr lang="en-US" sz="1100" dirty="0"/>
          </a:p>
          <a:p>
            <a:pPr indent="0" marL="0">
              <a:buNone/>
            </a:pPr>
            <a:r>
              <a:rPr lang="en-US" sz="1100" b="1" i="1" dirty="0">
                <a:solidFill>
                  <a:srgbClr val="8FBC8F"/>
                </a:solidFill>
                <a:latin typeface="Calibri" pitchFamily="34" charset="0"/>
                <a:ea typeface="Calibri" pitchFamily="34" charset="-122"/>
                <a:cs typeface="Calibri" pitchFamily="34" charset="-120"/>
              </a:rPr>
              <a:t>Open question: </a:t>
            </a:r>
            <a:pPr indent="0" marL="0">
              <a:buNone/>
            </a:pPr>
            <a:r>
              <a:rPr lang="en-US" sz="1100" i="1" dirty="0">
                <a:solidFill>
                  <a:srgbClr val="2E5266"/>
                </a:solidFill>
                <a:latin typeface="Calibri" pitchFamily="34" charset="0"/>
                <a:ea typeface="Calibri" pitchFamily="34" charset="-122"/>
                <a:cs typeface="Calibri" pitchFamily="34" charset="-120"/>
              </a:rPr>
              <a:t>no scheme produces a persistent mispricing signal — what horizon would?</a:t>
            </a:r>
            <a:endParaRPr lang="en-US" sz="1100" dirty="0"/>
          </a:p>
        </p:txBody>
      </p:sp>
      <p:sp>
        <p:nvSpPr>
          <p:cNvPr id="9" name="Text 6"/>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10" name="Text 7"/>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DID WE TRUST OUR PIPELINE?</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Robustness checks</a:t>
            </a:r>
            <a:endParaRPr lang="en-US" sz="3000" dirty="0"/>
          </a:p>
        </p:txBody>
      </p:sp>
      <p:sp>
        <p:nvSpPr>
          <p:cNvPr id="4" name="Shape 2"/>
          <p:cNvSpPr/>
          <p:nvPr/>
        </p:nvSpPr>
        <p:spPr>
          <a:xfrm>
            <a:off x="548640" y="1783080"/>
            <a:ext cx="3657600" cy="3931920"/>
          </a:xfrm>
          <a:prstGeom prst="rect">
            <a:avLst/>
          </a:prstGeom>
          <a:solidFill>
            <a:srgbClr val="FFFFFF"/>
          </a:solidFill>
          <a:ln w="12700">
            <a:solidFill>
              <a:srgbClr val="DDE5EC"/>
            </a:solidFill>
            <a:prstDash val="solid"/>
          </a:ln>
          <a:effectLst>
            <a:outerShdw sx="100000" sy="100000" kx="0" ky="0" algn="bl" rotWithShape="0" blurRad="127000" dist="25400" dir="5400000">
              <a:srgbClr val="000000">
                <a:alpha val="7000"/>
              </a:srgbClr>
            </a:outerShdw>
          </a:effectLst>
        </p:spPr>
      </p:sp>
      <p:sp>
        <p:nvSpPr>
          <p:cNvPr id="5" name="Shape 3"/>
          <p:cNvSpPr/>
          <p:nvPr/>
        </p:nvSpPr>
        <p:spPr>
          <a:xfrm>
            <a:off x="548640" y="1783080"/>
            <a:ext cx="3657600" cy="91440"/>
          </a:xfrm>
          <a:prstGeom prst="rect">
            <a:avLst/>
          </a:prstGeom>
          <a:solidFill>
            <a:srgbClr val="4A7C59"/>
          </a:solidFill>
          <a:ln w="12700">
            <a:solidFill>
              <a:srgbClr val="4A7C59"/>
            </a:solidFill>
            <a:prstDash val="solid"/>
          </a:ln>
        </p:spPr>
      </p:sp>
      <p:sp>
        <p:nvSpPr>
          <p:cNvPr id="6" name="Text 4"/>
          <p:cNvSpPr/>
          <p:nvPr/>
        </p:nvSpPr>
        <p:spPr>
          <a:xfrm>
            <a:off x="822960" y="2057400"/>
            <a:ext cx="3108960" cy="320040"/>
          </a:xfrm>
          <a:prstGeom prst="rect">
            <a:avLst/>
          </a:prstGeom>
          <a:noFill/>
          <a:ln/>
        </p:spPr>
        <p:txBody>
          <a:bodyPr wrap="square" lIns="0" tIns="0" rIns="0" bIns="0" rtlCol="0" anchor="ctr"/>
          <a:lstStyle/>
          <a:p>
            <a:pPr indent="0" marL="0">
              <a:buNone/>
            </a:pPr>
            <a:r>
              <a:rPr lang="en-US" sz="1100" b="1" spc="400" kern="0" dirty="0">
                <a:solidFill>
                  <a:srgbClr val="4A7C59"/>
                </a:solidFill>
                <a:latin typeface="Calibri" pitchFamily="34" charset="0"/>
                <a:ea typeface="Calibri" pitchFamily="34" charset="-122"/>
                <a:cs typeface="Calibri" pitchFamily="34" charset="-120"/>
              </a:rPr>
              <a:t>LEAKAGE</a:t>
            </a:r>
            <a:endParaRPr lang="en-US" sz="1100" dirty="0"/>
          </a:p>
        </p:txBody>
      </p:sp>
      <p:sp>
        <p:nvSpPr>
          <p:cNvPr id="7" name="Text 5"/>
          <p:cNvSpPr/>
          <p:nvPr/>
        </p:nvSpPr>
        <p:spPr>
          <a:xfrm>
            <a:off x="822960" y="2423160"/>
            <a:ext cx="3108960" cy="777240"/>
          </a:xfrm>
          <a:prstGeom prst="rect">
            <a:avLst/>
          </a:prstGeom>
          <a:noFill/>
          <a:ln/>
        </p:spPr>
        <p:txBody>
          <a:bodyPr wrap="square" lIns="0" tIns="0" rIns="0" bIns="0" rtlCol="0" anchor="t"/>
          <a:lstStyle/>
          <a:p>
            <a:pPr indent="0" marL="0">
              <a:buNone/>
            </a:pPr>
            <a:r>
              <a:rPr lang="en-US" sz="1700" b="1" dirty="0">
                <a:solidFill>
                  <a:srgbClr val="2E5266"/>
                </a:solidFill>
                <a:latin typeface="Calibri" pitchFamily="34" charset="0"/>
                <a:ea typeface="Calibri" pitchFamily="34" charset="-122"/>
                <a:cs typeface="Calibri" pitchFamily="34" charset="-120"/>
              </a:rPr>
              <a:t>No future information</a:t>
            </a:r>
            <a:endParaRPr lang="en-US" sz="1700" dirty="0"/>
          </a:p>
        </p:txBody>
      </p:sp>
      <p:sp>
        <p:nvSpPr>
          <p:cNvPr id="8" name="Shape 6"/>
          <p:cNvSpPr/>
          <p:nvPr/>
        </p:nvSpPr>
        <p:spPr>
          <a:xfrm>
            <a:off x="822960" y="3429000"/>
            <a:ext cx="640080" cy="0"/>
          </a:xfrm>
          <a:prstGeom prst="line">
            <a:avLst/>
          </a:prstGeom>
          <a:noFill/>
          <a:ln w="19050">
            <a:solidFill>
              <a:srgbClr val="4A7C59"/>
            </a:solidFill>
            <a:prstDash val="solid"/>
          </a:ln>
        </p:spPr>
      </p:sp>
      <p:sp>
        <p:nvSpPr>
          <p:cNvPr id="9" name="Text 7"/>
          <p:cNvSpPr/>
          <p:nvPr/>
        </p:nvSpPr>
        <p:spPr>
          <a:xfrm>
            <a:off x="822960" y="3566160"/>
            <a:ext cx="3108960" cy="15544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Three explicit invariants verified: (1) α(t+1) equals lead of realized α, (2) rolling betas use only data through t − loading_lag, (3) lagged FF columns match a manual lag.</a:t>
            </a:r>
            <a:endParaRPr lang="en-US" sz="1150" dirty="0"/>
          </a:p>
        </p:txBody>
      </p:sp>
      <p:sp>
        <p:nvSpPr>
          <p:cNvPr id="10" name="Shape 8"/>
          <p:cNvSpPr/>
          <p:nvPr/>
        </p:nvSpPr>
        <p:spPr>
          <a:xfrm>
            <a:off x="822960" y="5166360"/>
            <a:ext cx="1463040" cy="365760"/>
          </a:xfrm>
          <a:prstGeom prst="rect">
            <a:avLst/>
          </a:prstGeom>
          <a:solidFill>
            <a:srgbClr val="4A7C59"/>
          </a:solidFill>
          <a:ln w="12700">
            <a:solidFill>
              <a:srgbClr val="4A7C59"/>
            </a:solidFill>
            <a:prstDash val="solid"/>
          </a:ln>
        </p:spPr>
      </p:sp>
      <p:sp>
        <p:nvSpPr>
          <p:cNvPr id="11" name="Text 9"/>
          <p:cNvSpPr/>
          <p:nvPr/>
        </p:nvSpPr>
        <p:spPr>
          <a:xfrm>
            <a:off x="822960" y="5166360"/>
            <a:ext cx="1463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All passed</a:t>
            </a:r>
            <a:endParaRPr lang="en-US" sz="1100" dirty="0"/>
          </a:p>
        </p:txBody>
      </p:sp>
      <p:sp>
        <p:nvSpPr>
          <p:cNvPr id="12" name="Shape 10"/>
          <p:cNvSpPr/>
          <p:nvPr/>
        </p:nvSpPr>
        <p:spPr>
          <a:xfrm>
            <a:off x="4343400" y="1783080"/>
            <a:ext cx="3657600" cy="3931920"/>
          </a:xfrm>
          <a:prstGeom prst="rect">
            <a:avLst/>
          </a:prstGeom>
          <a:solidFill>
            <a:srgbClr val="FFFFFF"/>
          </a:solidFill>
          <a:ln w="12700">
            <a:solidFill>
              <a:srgbClr val="DDE5EC"/>
            </a:solidFill>
            <a:prstDash val="solid"/>
          </a:ln>
          <a:effectLst>
            <a:outerShdw sx="100000" sy="100000" kx="0" ky="0" algn="bl" rotWithShape="0" blurRad="127000" dist="25400" dir="5400000">
              <a:srgbClr val="000000">
                <a:alpha val="7000"/>
              </a:srgbClr>
            </a:outerShdw>
          </a:effectLst>
        </p:spPr>
      </p:sp>
      <p:sp>
        <p:nvSpPr>
          <p:cNvPr id="13" name="Shape 11"/>
          <p:cNvSpPr/>
          <p:nvPr/>
        </p:nvSpPr>
        <p:spPr>
          <a:xfrm>
            <a:off x="4343400" y="1783080"/>
            <a:ext cx="3657600" cy="91440"/>
          </a:xfrm>
          <a:prstGeom prst="rect">
            <a:avLst/>
          </a:prstGeom>
          <a:solidFill>
            <a:srgbClr val="2E5266"/>
          </a:solidFill>
          <a:ln w="12700">
            <a:solidFill>
              <a:srgbClr val="2E5266"/>
            </a:solidFill>
            <a:prstDash val="solid"/>
          </a:ln>
        </p:spPr>
      </p:sp>
      <p:sp>
        <p:nvSpPr>
          <p:cNvPr id="14" name="Text 12"/>
          <p:cNvSpPr/>
          <p:nvPr/>
        </p:nvSpPr>
        <p:spPr>
          <a:xfrm>
            <a:off x="4617720" y="2057400"/>
            <a:ext cx="3108960" cy="320040"/>
          </a:xfrm>
          <a:prstGeom prst="rect">
            <a:avLst/>
          </a:prstGeom>
          <a:noFill/>
          <a:ln/>
        </p:spPr>
        <p:txBody>
          <a:bodyPr wrap="square" lIns="0" tIns="0" rIns="0" bIns="0" rtlCol="0" anchor="ctr"/>
          <a:lstStyle/>
          <a:p>
            <a:pPr indent="0" marL="0">
              <a:buNone/>
            </a:pPr>
            <a:r>
              <a:rPr lang="en-US" sz="1100" b="1" spc="400" kern="0" dirty="0">
                <a:solidFill>
                  <a:srgbClr val="2E5266"/>
                </a:solidFill>
                <a:latin typeface="Calibri" pitchFamily="34" charset="0"/>
                <a:ea typeface="Calibri" pitchFamily="34" charset="-122"/>
                <a:cs typeface="Calibri" pitchFamily="34" charset="-120"/>
              </a:rPr>
              <a:t>STABILITY</a:t>
            </a:r>
            <a:endParaRPr lang="en-US" sz="1100" dirty="0"/>
          </a:p>
        </p:txBody>
      </p:sp>
      <p:sp>
        <p:nvSpPr>
          <p:cNvPr id="15" name="Text 13"/>
          <p:cNvSpPr/>
          <p:nvPr/>
        </p:nvSpPr>
        <p:spPr>
          <a:xfrm>
            <a:off x="4617720" y="2423160"/>
            <a:ext cx="3108960" cy="777240"/>
          </a:xfrm>
          <a:prstGeom prst="rect">
            <a:avLst/>
          </a:prstGeom>
          <a:noFill/>
          <a:ln/>
        </p:spPr>
        <p:txBody>
          <a:bodyPr wrap="square" lIns="0" tIns="0" rIns="0" bIns="0" rtlCol="0" anchor="t"/>
          <a:lstStyle/>
          <a:p>
            <a:pPr indent="0" marL="0">
              <a:buNone/>
            </a:pPr>
            <a:r>
              <a:rPr lang="en-US" sz="1700" b="1" dirty="0">
                <a:solidFill>
                  <a:srgbClr val="2E5266"/>
                </a:solidFill>
                <a:latin typeface="Calibri" pitchFamily="34" charset="0"/>
                <a:ea typeface="Calibri" pitchFamily="34" charset="-122"/>
                <a:cs typeface="Calibri" pitchFamily="34" charset="-120"/>
              </a:rPr>
              <a:t>Cluster IDs persist across refits</a:t>
            </a:r>
            <a:endParaRPr lang="en-US" sz="1700" dirty="0"/>
          </a:p>
        </p:txBody>
      </p:sp>
      <p:sp>
        <p:nvSpPr>
          <p:cNvPr id="16" name="Shape 14"/>
          <p:cNvSpPr/>
          <p:nvPr/>
        </p:nvSpPr>
        <p:spPr>
          <a:xfrm>
            <a:off x="4617720" y="3429000"/>
            <a:ext cx="640080" cy="0"/>
          </a:xfrm>
          <a:prstGeom prst="line">
            <a:avLst/>
          </a:prstGeom>
          <a:noFill/>
          <a:ln w="19050">
            <a:solidFill>
              <a:srgbClr val="2E5266"/>
            </a:solidFill>
            <a:prstDash val="solid"/>
          </a:ln>
        </p:spPr>
      </p:sp>
      <p:sp>
        <p:nvSpPr>
          <p:cNvPr id="17" name="Text 15"/>
          <p:cNvSpPr/>
          <p:nvPr/>
        </p:nvSpPr>
        <p:spPr>
          <a:xfrm>
            <a:off x="4617720" y="3566160"/>
            <a:ext cx="3108960" cy="15544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Annual refit could scramble cluster identities year-to-year. Hungarian-algorithm matching against the prior fit's labels keeps cluster IDs interpretable across the full holdout.</a:t>
            </a:r>
            <a:endParaRPr lang="en-US" sz="1150" dirty="0"/>
          </a:p>
        </p:txBody>
      </p:sp>
      <p:sp>
        <p:nvSpPr>
          <p:cNvPr id="18" name="Shape 16"/>
          <p:cNvSpPr/>
          <p:nvPr/>
        </p:nvSpPr>
        <p:spPr>
          <a:xfrm>
            <a:off x="4617720" y="5166360"/>
            <a:ext cx="1463040" cy="365760"/>
          </a:xfrm>
          <a:prstGeom prst="rect">
            <a:avLst/>
          </a:prstGeom>
          <a:solidFill>
            <a:srgbClr val="2E5266"/>
          </a:solidFill>
          <a:ln w="12700">
            <a:solidFill>
              <a:srgbClr val="2E5266"/>
            </a:solidFill>
            <a:prstDash val="solid"/>
          </a:ln>
        </p:spPr>
      </p:sp>
      <p:sp>
        <p:nvSpPr>
          <p:cNvPr id="19" name="Text 17"/>
          <p:cNvSpPr/>
          <p:nvPr/>
        </p:nvSpPr>
        <p:spPr>
          <a:xfrm>
            <a:off x="4617720" y="5166360"/>
            <a:ext cx="1463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k=2 stable</a:t>
            </a:r>
            <a:endParaRPr lang="en-US" sz="1100" dirty="0"/>
          </a:p>
        </p:txBody>
      </p:sp>
      <p:sp>
        <p:nvSpPr>
          <p:cNvPr id="20" name="Shape 18"/>
          <p:cNvSpPr/>
          <p:nvPr/>
        </p:nvSpPr>
        <p:spPr>
          <a:xfrm>
            <a:off x="8138160" y="1783080"/>
            <a:ext cx="3657600" cy="3931920"/>
          </a:xfrm>
          <a:prstGeom prst="rect">
            <a:avLst/>
          </a:prstGeom>
          <a:solidFill>
            <a:srgbClr val="FFFFFF"/>
          </a:solidFill>
          <a:ln w="12700">
            <a:solidFill>
              <a:srgbClr val="DDE5EC"/>
            </a:solidFill>
            <a:prstDash val="solid"/>
          </a:ln>
          <a:effectLst>
            <a:outerShdw sx="100000" sy="100000" kx="0" ky="0" algn="bl" rotWithShape="0" blurRad="127000" dist="25400" dir="5400000">
              <a:srgbClr val="000000">
                <a:alpha val="7000"/>
              </a:srgbClr>
            </a:outerShdw>
          </a:effectLst>
        </p:spPr>
      </p:sp>
      <p:sp>
        <p:nvSpPr>
          <p:cNvPr id="21" name="Shape 19"/>
          <p:cNvSpPr/>
          <p:nvPr/>
        </p:nvSpPr>
        <p:spPr>
          <a:xfrm>
            <a:off x="8138160" y="1783080"/>
            <a:ext cx="3657600" cy="91440"/>
          </a:xfrm>
          <a:prstGeom prst="rect">
            <a:avLst/>
          </a:prstGeom>
          <a:solidFill>
            <a:srgbClr val="4A7C59"/>
          </a:solidFill>
          <a:ln w="12700">
            <a:solidFill>
              <a:srgbClr val="4A7C59"/>
            </a:solidFill>
            <a:prstDash val="solid"/>
          </a:ln>
        </p:spPr>
      </p:sp>
      <p:sp>
        <p:nvSpPr>
          <p:cNvPr id="22" name="Text 20"/>
          <p:cNvSpPr/>
          <p:nvPr/>
        </p:nvSpPr>
        <p:spPr>
          <a:xfrm>
            <a:off x="8412480" y="2057400"/>
            <a:ext cx="3108960" cy="320040"/>
          </a:xfrm>
          <a:prstGeom prst="rect">
            <a:avLst/>
          </a:prstGeom>
          <a:noFill/>
          <a:ln/>
        </p:spPr>
        <p:txBody>
          <a:bodyPr wrap="square" lIns="0" tIns="0" rIns="0" bIns="0" rtlCol="0" anchor="ctr"/>
          <a:lstStyle/>
          <a:p>
            <a:pPr indent="0" marL="0">
              <a:buNone/>
            </a:pPr>
            <a:r>
              <a:rPr lang="en-US" sz="1100" b="1" spc="400" kern="0" dirty="0">
                <a:solidFill>
                  <a:srgbClr val="4A7C59"/>
                </a:solidFill>
                <a:latin typeface="Calibri" pitchFamily="34" charset="0"/>
                <a:ea typeface="Calibri" pitchFamily="34" charset="-122"/>
                <a:cs typeface="Calibri" pitchFamily="34" charset="-120"/>
              </a:rPr>
              <a:t>COVERAGE</a:t>
            </a:r>
            <a:endParaRPr lang="en-US" sz="1100" dirty="0"/>
          </a:p>
        </p:txBody>
      </p:sp>
      <p:sp>
        <p:nvSpPr>
          <p:cNvPr id="23" name="Text 21"/>
          <p:cNvSpPr/>
          <p:nvPr/>
        </p:nvSpPr>
        <p:spPr>
          <a:xfrm>
            <a:off x="8412480" y="2423160"/>
            <a:ext cx="3108960" cy="777240"/>
          </a:xfrm>
          <a:prstGeom prst="rect">
            <a:avLst/>
          </a:prstGeom>
          <a:noFill/>
          <a:ln/>
        </p:spPr>
        <p:txBody>
          <a:bodyPr wrap="square" lIns="0" tIns="0" rIns="0" bIns="0" rtlCol="0" anchor="t"/>
          <a:lstStyle/>
          <a:p>
            <a:pPr indent="0" marL="0">
              <a:buNone/>
            </a:pPr>
            <a:r>
              <a:rPr lang="en-US" sz="1700" b="1" dirty="0">
                <a:solidFill>
                  <a:srgbClr val="2E5266"/>
                </a:solidFill>
                <a:latin typeface="Calibri" pitchFamily="34" charset="0"/>
                <a:ea typeface="Calibri" pitchFamily="34" charset="-122"/>
                <a:cs typeface="Calibri" pitchFamily="34" charset="-120"/>
              </a:rPr>
              <a:t>Two-thirds of stock-months modelable</a:t>
            </a:r>
            <a:endParaRPr lang="en-US" sz="1700" dirty="0"/>
          </a:p>
        </p:txBody>
      </p:sp>
      <p:sp>
        <p:nvSpPr>
          <p:cNvPr id="24" name="Shape 22"/>
          <p:cNvSpPr/>
          <p:nvPr/>
        </p:nvSpPr>
        <p:spPr>
          <a:xfrm>
            <a:off x="8412480" y="3429000"/>
            <a:ext cx="640080" cy="0"/>
          </a:xfrm>
          <a:prstGeom prst="line">
            <a:avLst/>
          </a:prstGeom>
          <a:noFill/>
          <a:ln w="19050">
            <a:solidFill>
              <a:srgbClr val="4A7C59"/>
            </a:solidFill>
            <a:prstDash val="solid"/>
          </a:ln>
        </p:spPr>
      </p:sp>
      <p:sp>
        <p:nvSpPr>
          <p:cNvPr id="25" name="Text 23"/>
          <p:cNvSpPr/>
          <p:nvPr/>
        </p:nvSpPr>
        <p:spPr>
          <a:xfrm>
            <a:off x="8412480" y="3566160"/>
            <a:ext cx="3108960" cy="15544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Of 52,221 stock-months, 67% have non-missing features and a forward target. Drops are concentrated at the beta warm-up (2014–2017) and the panel edges, not mid-sample.</a:t>
            </a:r>
            <a:endParaRPr lang="en-US" sz="1150" dirty="0"/>
          </a:p>
        </p:txBody>
      </p:sp>
      <p:sp>
        <p:nvSpPr>
          <p:cNvPr id="26" name="Shape 24"/>
          <p:cNvSpPr/>
          <p:nvPr/>
        </p:nvSpPr>
        <p:spPr>
          <a:xfrm>
            <a:off x="8412480" y="5166360"/>
            <a:ext cx="1463040" cy="365760"/>
          </a:xfrm>
          <a:prstGeom prst="rect">
            <a:avLst/>
          </a:prstGeom>
          <a:solidFill>
            <a:srgbClr val="4A7C59"/>
          </a:solidFill>
          <a:ln w="12700">
            <a:solidFill>
              <a:srgbClr val="4A7C59"/>
            </a:solidFill>
            <a:prstDash val="solid"/>
          </a:ln>
        </p:spPr>
      </p:sp>
      <p:sp>
        <p:nvSpPr>
          <p:cNvPr id="27" name="Text 25"/>
          <p:cNvSpPr/>
          <p:nvPr/>
        </p:nvSpPr>
        <p:spPr>
          <a:xfrm>
            <a:off x="8412480" y="5166360"/>
            <a:ext cx="1463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67% usable</a:t>
            </a:r>
            <a:endParaRPr lang="en-US" sz="1100" dirty="0"/>
          </a:p>
        </p:txBody>
      </p:sp>
      <p:sp>
        <p:nvSpPr>
          <p:cNvPr id="28" name="Text 26"/>
          <p:cNvSpPr/>
          <p:nvPr/>
        </p:nvSpPr>
        <p:spPr>
          <a:xfrm>
            <a:off x="548640" y="5943600"/>
            <a:ext cx="1280160" cy="320040"/>
          </a:xfrm>
          <a:prstGeom prst="rect">
            <a:avLst/>
          </a:prstGeom>
          <a:noFill/>
          <a:ln/>
        </p:spPr>
        <p:txBody>
          <a:bodyPr wrap="square" lIns="0" tIns="0" rIns="0" bIns="0" rtlCol="0" anchor="ctr"/>
          <a:lstStyle/>
          <a:p>
            <a:pPr indent="0" marL="0">
              <a:buNone/>
            </a:pPr>
            <a:r>
              <a:rPr lang="en-US" sz="1200" b="1" i="1" dirty="0">
                <a:solidFill>
                  <a:srgbClr val="64748B"/>
                </a:solidFill>
                <a:latin typeface="Calibri" pitchFamily="34" charset="0"/>
                <a:ea typeface="Calibri" pitchFamily="34" charset="-122"/>
                <a:cs typeface="Calibri" pitchFamily="34" charset="-120"/>
              </a:rPr>
              <a:t>Still open: </a:t>
            </a:r>
            <a:endParaRPr lang="en-US" sz="1200" dirty="0"/>
          </a:p>
        </p:txBody>
      </p:sp>
      <p:sp>
        <p:nvSpPr>
          <p:cNvPr id="29" name="Text 27"/>
          <p:cNvSpPr/>
          <p:nvPr/>
        </p:nvSpPr>
        <p:spPr>
          <a:xfrm>
            <a:off x="1783080" y="5943600"/>
            <a:ext cx="978408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refit-window sensitivity (36 vs 60 vs 84 months) and full-universe re-run with dev mode off.</a:t>
            </a:r>
            <a:endParaRPr lang="en-US" sz="1200" dirty="0"/>
          </a:p>
        </p:txBody>
      </p:sp>
      <p:sp>
        <p:nvSpPr>
          <p:cNvPr id="30" name="Text 28"/>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31" name="Text 29"/>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SYNTHESIS</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Scorecard across four dimensions</a:t>
            </a:r>
            <a:endParaRPr lang="en-US" sz="3000" dirty="0"/>
          </a:p>
        </p:txBody>
      </p:sp>
      <p:sp>
        <p:nvSpPr>
          <p:cNvPr id="4" name="Shape 2"/>
          <p:cNvSpPr/>
          <p:nvPr/>
        </p:nvSpPr>
        <p:spPr>
          <a:xfrm>
            <a:off x="548640" y="1828800"/>
            <a:ext cx="4023360" cy="548640"/>
          </a:xfrm>
          <a:prstGeom prst="rect">
            <a:avLst/>
          </a:prstGeom>
          <a:solidFill>
            <a:srgbClr val="2E5266"/>
          </a:solidFill>
          <a:ln w="12700">
            <a:solidFill>
              <a:srgbClr val="2E5266"/>
            </a:solidFill>
            <a:prstDash val="solid"/>
          </a:ln>
        </p:spPr>
      </p:sp>
      <p:sp>
        <p:nvSpPr>
          <p:cNvPr id="5" name="Text 3"/>
          <p:cNvSpPr/>
          <p:nvPr/>
        </p:nvSpPr>
        <p:spPr>
          <a:xfrm>
            <a:off x="548640" y="1828800"/>
            <a:ext cx="4023360" cy="548640"/>
          </a:xfrm>
          <a:prstGeom prst="rect">
            <a:avLst/>
          </a:prstGeom>
          <a:noFill/>
          <a:ln/>
        </p:spPr>
        <p:txBody>
          <a:bodyPr wrap="square" lIns="101600" tIns="101600" rIns="101600" bIns="101600" rtlCol="0" anchor="ctr"/>
          <a:lstStyle/>
          <a:p>
            <a:pPr algn="l" indent="0" marL="0">
              <a:buNone/>
            </a:pPr>
            <a:endParaRPr lang="en-US" sz="1300" dirty="0"/>
          </a:p>
        </p:txBody>
      </p:sp>
      <p:sp>
        <p:nvSpPr>
          <p:cNvPr id="6" name="Shape 4"/>
          <p:cNvSpPr/>
          <p:nvPr/>
        </p:nvSpPr>
        <p:spPr>
          <a:xfrm>
            <a:off x="4572000" y="1828800"/>
            <a:ext cx="2286000" cy="548640"/>
          </a:xfrm>
          <a:prstGeom prst="rect">
            <a:avLst/>
          </a:prstGeom>
          <a:solidFill>
            <a:srgbClr val="2E5266"/>
          </a:solidFill>
          <a:ln w="12700">
            <a:solidFill>
              <a:srgbClr val="2E5266"/>
            </a:solidFill>
            <a:prstDash val="solid"/>
          </a:ln>
        </p:spPr>
      </p:sp>
      <p:sp>
        <p:nvSpPr>
          <p:cNvPr id="7" name="Text 5"/>
          <p:cNvSpPr/>
          <p:nvPr/>
        </p:nvSpPr>
        <p:spPr>
          <a:xfrm>
            <a:off x="4572000" y="1828800"/>
            <a:ext cx="22860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GICS</a:t>
            </a:r>
            <a:endParaRPr lang="en-US" sz="1300" dirty="0"/>
          </a:p>
        </p:txBody>
      </p:sp>
      <p:sp>
        <p:nvSpPr>
          <p:cNvPr id="8" name="Shape 6"/>
          <p:cNvSpPr/>
          <p:nvPr/>
        </p:nvSpPr>
        <p:spPr>
          <a:xfrm>
            <a:off x="6858000" y="1828800"/>
            <a:ext cx="2286000" cy="548640"/>
          </a:xfrm>
          <a:prstGeom prst="rect">
            <a:avLst/>
          </a:prstGeom>
          <a:solidFill>
            <a:srgbClr val="2E5266"/>
          </a:solidFill>
          <a:ln w="12700">
            <a:solidFill>
              <a:srgbClr val="2E5266"/>
            </a:solidFill>
            <a:prstDash val="solid"/>
          </a:ln>
        </p:spPr>
      </p:sp>
      <p:sp>
        <p:nvSpPr>
          <p:cNvPr id="9" name="Text 7"/>
          <p:cNvSpPr/>
          <p:nvPr/>
        </p:nvSpPr>
        <p:spPr>
          <a:xfrm>
            <a:off x="6858000" y="1828800"/>
            <a:ext cx="22860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FF12</a:t>
            </a:r>
            <a:endParaRPr lang="en-US" sz="1300" dirty="0"/>
          </a:p>
        </p:txBody>
      </p:sp>
      <p:sp>
        <p:nvSpPr>
          <p:cNvPr id="10" name="Shape 8"/>
          <p:cNvSpPr/>
          <p:nvPr/>
        </p:nvSpPr>
        <p:spPr>
          <a:xfrm>
            <a:off x="9144000" y="1828800"/>
            <a:ext cx="2468880" cy="548640"/>
          </a:xfrm>
          <a:prstGeom prst="rect">
            <a:avLst/>
          </a:prstGeom>
          <a:solidFill>
            <a:srgbClr val="2E5266"/>
          </a:solidFill>
          <a:ln w="12700">
            <a:solidFill>
              <a:srgbClr val="2E5266"/>
            </a:solidFill>
            <a:prstDash val="solid"/>
          </a:ln>
        </p:spPr>
      </p:sp>
      <p:sp>
        <p:nvSpPr>
          <p:cNvPr id="11" name="Text 9"/>
          <p:cNvSpPr/>
          <p:nvPr/>
        </p:nvSpPr>
        <p:spPr>
          <a:xfrm>
            <a:off x="9144000" y="1828800"/>
            <a:ext cx="24688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Cluster</a:t>
            </a:r>
            <a:endParaRPr lang="en-US" sz="1300" dirty="0"/>
          </a:p>
        </p:txBody>
      </p:sp>
      <p:sp>
        <p:nvSpPr>
          <p:cNvPr id="12" name="Shape 10"/>
          <p:cNvSpPr/>
          <p:nvPr/>
        </p:nvSpPr>
        <p:spPr>
          <a:xfrm>
            <a:off x="548640" y="2377440"/>
            <a:ext cx="4023360" cy="548640"/>
          </a:xfrm>
          <a:prstGeom prst="rect">
            <a:avLst/>
          </a:prstGeom>
          <a:solidFill>
            <a:srgbClr val="FFFFFF"/>
          </a:solidFill>
          <a:ln w="6350">
            <a:solidFill>
              <a:srgbClr val="DDE5EC"/>
            </a:solidFill>
            <a:prstDash val="solid"/>
          </a:ln>
        </p:spPr>
      </p:sp>
      <p:sp>
        <p:nvSpPr>
          <p:cNvPr id="13" name="Text 11"/>
          <p:cNvSpPr/>
          <p:nvPr/>
        </p:nvSpPr>
        <p:spPr>
          <a:xfrm>
            <a:off x="548640" y="2377440"/>
            <a:ext cx="4023360" cy="548640"/>
          </a:xfrm>
          <a:prstGeom prst="rect">
            <a:avLst/>
          </a:prstGeom>
          <a:noFill/>
          <a:ln/>
        </p:spPr>
        <p:txBody>
          <a:bodyPr wrap="square" lIns="101600" tIns="101600" rIns="101600" bIns="101600" rtlCol="0" anchor="ctr"/>
          <a:lstStyle/>
          <a:p>
            <a:pPr algn="l" indent="0" marL="0">
              <a:buNone/>
            </a:pPr>
            <a:r>
              <a:rPr lang="en-US" sz="1200" b="1" dirty="0">
                <a:solidFill>
                  <a:srgbClr val="2E5266"/>
                </a:solidFill>
                <a:latin typeface="Calibri" pitchFamily="34" charset="0"/>
                <a:ea typeface="Calibri" pitchFamily="34" charset="-122"/>
                <a:cs typeface="Calibri" pitchFamily="34" charset="-120"/>
              </a:rPr>
              <a:t>Composition uniqueness</a:t>
            </a:r>
            <a:endParaRPr lang="en-US" sz="1200" dirty="0"/>
          </a:p>
        </p:txBody>
      </p:sp>
      <p:sp>
        <p:nvSpPr>
          <p:cNvPr id="14" name="Shape 12"/>
          <p:cNvSpPr/>
          <p:nvPr/>
        </p:nvSpPr>
        <p:spPr>
          <a:xfrm>
            <a:off x="4572000" y="2377440"/>
            <a:ext cx="2286000" cy="548640"/>
          </a:xfrm>
          <a:prstGeom prst="rect">
            <a:avLst/>
          </a:prstGeom>
          <a:solidFill>
            <a:srgbClr val="FFFFFF"/>
          </a:solidFill>
          <a:ln w="6350">
            <a:solidFill>
              <a:srgbClr val="DDE5EC"/>
            </a:solidFill>
            <a:prstDash val="solid"/>
          </a:ln>
        </p:spPr>
      </p:sp>
      <p:sp>
        <p:nvSpPr>
          <p:cNvPr id="15" name="Text 13"/>
          <p:cNvSpPr/>
          <p:nvPr/>
        </p:nvSpPr>
        <p:spPr>
          <a:xfrm>
            <a:off x="4572000" y="2377440"/>
            <a:ext cx="228600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6858000" y="2377440"/>
            <a:ext cx="2286000" cy="548640"/>
          </a:xfrm>
          <a:prstGeom prst="rect">
            <a:avLst/>
          </a:prstGeom>
          <a:solidFill>
            <a:srgbClr val="FFFFFF"/>
          </a:solidFill>
          <a:ln w="6350">
            <a:solidFill>
              <a:srgbClr val="DDE5EC"/>
            </a:solidFill>
            <a:prstDash val="solid"/>
          </a:ln>
        </p:spPr>
      </p:sp>
      <p:sp>
        <p:nvSpPr>
          <p:cNvPr id="17" name="Text 15"/>
          <p:cNvSpPr/>
          <p:nvPr/>
        </p:nvSpPr>
        <p:spPr>
          <a:xfrm>
            <a:off x="6858000" y="2377440"/>
            <a:ext cx="228600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8" name="Shape 16"/>
          <p:cNvSpPr/>
          <p:nvPr/>
        </p:nvSpPr>
        <p:spPr>
          <a:xfrm>
            <a:off x="9144000" y="2377440"/>
            <a:ext cx="2468880" cy="548640"/>
          </a:xfrm>
          <a:prstGeom prst="rect">
            <a:avLst/>
          </a:prstGeom>
          <a:solidFill>
            <a:srgbClr val="FFFFFF"/>
          </a:solidFill>
          <a:ln w="6350">
            <a:solidFill>
              <a:srgbClr val="DDE5EC"/>
            </a:solidFill>
            <a:prstDash val="solid"/>
          </a:ln>
        </p:spPr>
      </p:sp>
      <p:sp>
        <p:nvSpPr>
          <p:cNvPr id="19" name="Text 17"/>
          <p:cNvSpPr/>
          <p:nvPr/>
        </p:nvSpPr>
        <p:spPr>
          <a:xfrm>
            <a:off x="9144000" y="2377440"/>
            <a:ext cx="2468880" cy="548640"/>
          </a:xfrm>
          <a:prstGeom prst="rect">
            <a:avLst/>
          </a:prstGeom>
          <a:noFill/>
          <a:ln/>
        </p:spPr>
        <p:txBody>
          <a:bodyPr wrap="square" lIns="0" tIns="0" rIns="0" bIns="0" rtlCol="0" anchor="ctr"/>
          <a:lstStyle/>
          <a:p>
            <a:pPr algn="ctr" indent="0" marL="0">
              <a:buNone/>
            </a:pPr>
            <a:r>
              <a:rPr lang="en-US" sz="1200" b="1" dirty="0">
                <a:solidFill>
                  <a:srgbClr val="8FBC8F"/>
                </a:solidFill>
                <a:latin typeface="Calibri" pitchFamily="34" charset="0"/>
                <a:ea typeface="Calibri" pitchFamily="34" charset="-122"/>
                <a:cs typeface="Calibri" pitchFamily="34" charset="-120"/>
              </a:rPr>
              <a:t>✓ different</a:t>
            </a:r>
            <a:endParaRPr lang="en-US" sz="1200" dirty="0"/>
          </a:p>
        </p:txBody>
      </p:sp>
      <p:sp>
        <p:nvSpPr>
          <p:cNvPr id="20" name="Shape 18"/>
          <p:cNvSpPr/>
          <p:nvPr/>
        </p:nvSpPr>
        <p:spPr>
          <a:xfrm>
            <a:off x="548640" y="2926080"/>
            <a:ext cx="4023360" cy="548640"/>
          </a:xfrm>
          <a:prstGeom prst="rect">
            <a:avLst/>
          </a:prstGeom>
          <a:solidFill>
            <a:srgbClr val="F4F7F9"/>
          </a:solidFill>
          <a:ln w="6350">
            <a:solidFill>
              <a:srgbClr val="DDE5EC"/>
            </a:solidFill>
            <a:prstDash val="solid"/>
          </a:ln>
        </p:spPr>
      </p:sp>
      <p:sp>
        <p:nvSpPr>
          <p:cNvPr id="21" name="Text 19"/>
          <p:cNvSpPr/>
          <p:nvPr/>
        </p:nvSpPr>
        <p:spPr>
          <a:xfrm>
            <a:off x="548640" y="2926080"/>
            <a:ext cx="4023360" cy="548640"/>
          </a:xfrm>
          <a:prstGeom prst="rect">
            <a:avLst/>
          </a:prstGeom>
          <a:noFill/>
          <a:ln/>
        </p:spPr>
        <p:txBody>
          <a:bodyPr wrap="square" lIns="101600" tIns="101600" rIns="101600" bIns="101600" rtlCol="0" anchor="ctr"/>
          <a:lstStyle/>
          <a:p>
            <a:pPr algn="l" indent="0" marL="0">
              <a:buNone/>
            </a:pPr>
            <a:r>
              <a:rPr lang="en-US" sz="1200" b="1" dirty="0">
                <a:solidFill>
                  <a:srgbClr val="2E5266"/>
                </a:solidFill>
                <a:latin typeface="Calibri" pitchFamily="34" charset="0"/>
                <a:ea typeface="Calibri" pitchFamily="34" charset="-122"/>
                <a:cs typeface="Calibri" pitchFamily="34" charset="-120"/>
              </a:rPr>
              <a:t>Within-group co-movement</a:t>
            </a:r>
            <a:endParaRPr lang="en-US" sz="1200" dirty="0"/>
          </a:p>
        </p:txBody>
      </p:sp>
      <p:sp>
        <p:nvSpPr>
          <p:cNvPr id="22" name="Shape 20"/>
          <p:cNvSpPr/>
          <p:nvPr/>
        </p:nvSpPr>
        <p:spPr>
          <a:xfrm>
            <a:off x="4572000" y="2926080"/>
            <a:ext cx="2286000" cy="548640"/>
          </a:xfrm>
          <a:prstGeom prst="rect">
            <a:avLst/>
          </a:prstGeom>
          <a:solidFill>
            <a:srgbClr val="F4F7F9"/>
          </a:solidFill>
          <a:ln w="6350">
            <a:solidFill>
              <a:srgbClr val="DDE5EC"/>
            </a:solidFill>
            <a:prstDash val="solid"/>
          </a:ln>
        </p:spPr>
      </p:sp>
      <p:sp>
        <p:nvSpPr>
          <p:cNvPr id="23" name="Text 21"/>
          <p:cNvSpPr/>
          <p:nvPr/>
        </p:nvSpPr>
        <p:spPr>
          <a:xfrm>
            <a:off x="4572000" y="2926080"/>
            <a:ext cx="2286000" cy="548640"/>
          </a:xfrm>
          <a:prstGeom prst="rect">
            <a:avLst/>
          </a:prstGeom>
          <a:noFill/>
          <a:ln/>
        </p:spPr>
        <p:txBody>
          <a:bodyPr wrap="square" lIns="0" tIns="0" rIns="0" bIns="0" rtlCol="0" anchor="ctr"/>
          <a:lstStyle/>
          <a:p>
            <a:pPr algn="ctr" indent="0" marL="0">
              <a:buNone/>
            </a:pPr>
            <a:r>
              <a:rPr lang="en-US" sz="1200" b="1" dirty="0">
                <a:solidFill>
                  <a:srgbClr val="8FBC8F"/>
                </a:solidFill>
                <a:latin typeface="Calibri" pitchFamily="34" charset="0"/>
                <a:ea typeface="Calibri" pitchFamily="34" charset="-122"/>
                <a:cs typeface="Calibri" pitchFamily="34" charset="-120"/>
              </a:rPr>
              <a:t>✓ 0.47</a:t>
            </a:r>
            <a:endParaRPr lang="en-US" sz="1200" dirty="0"/>
          </a:p>
        </p:txBody>
      </p:sp>
      <p:sp>
        <p:nvSpPr>
          <p:cNvPr id="24" name="Shape 22"/>
          <p:cNvSpPr/>
          <p:nvPr/>
        </p:nvSpPr>
        <p:spPr>
          <a:xfrm>
            <a:off x="6858000" y="2926080"/>
            <a:ext cx="2286000" cy="548640"/>
          </a:xfrm>
          <a:prstGeom prst="rect">
            <a:avLst/>
          </a:prstGeom>
          <a:solidFill>
            <a:srgbClr val="F4F7F9"/>
          </a:solidFill>
          <a:ln w="6350">
            <a:solidFill>
              <a:srgbClr val="DDE5EC"/>
            </a:solidFill>
            <a:prstDash val="solid"/>
          </a:ln>
        </p:spPr>
      </p:sp>
      <p:sp>
        <p:nvSpPr>
          <p:cNvPr id="25" name="Text 23"/>
          <p:cNvSpPr/>
          <p:nvPr/>
        </p:nvSpPr>
        <p:spPr>
          <a:xfrm>
            <a:off x="6858000" y="2926080"/>
            <a:ext cx="228600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0.45</a:t>
            </a:r>
            <a:endParaRPr lang="en-US" sz="1200" dirty="0"/>
          </a:p>
        </p:txBody>
      </p:sp>
      <p:sp>
        <p:nvSpPr>
          <p:cNvPr id="26" name="Shape 24"/>
          <p:cNvSpPr/>
          <p:nvPr/>
        </p:nvSpPr>
        <p:spPr>
          <a:xfrm>
            <a:off x="9144000" y="2926080"/>
            <a:ext cx="2468880" cy="548640"/>
          </a:xfrm>
          <a:prstGeom prst="rect">
            <a:avLst/>
          </a:prstGeom>
          <a:solidFill>
            <a:srgbClr val="F4F7F9"/>
          </a:solidFill>
          <a:ln w="6350">
            <a:solidFill>
              <a:srgbClr val="DDE5EC"/>
            </a:solidFill>
            <a:prstDash val="solid"/>
          </a:ln>
        </p:spPr>
      </p:sp>
      <p:sp>
        <p:nvSpPr>
          <p:cNvPr id="27" name="Text 25"/>
          <p:cNvSpPr/>
          <p:nvPr/>
        </p:nvSpPr>
        <p:spPr>
          <a:xfrm>
            <a:off x="9144000" y="2926080"/>
            <a:ext cx="246888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0.34</a:t>
            </a:r>
            <a:endParaRPr lang="en-US" sz="1200" dirty="0"/>
          </a:p>
        </p:txBody>
      </p:sp>
      <p:sp>
        <p:nvSpPr>
          <p:cNvPr id="28" name="Shape 26"/>
          <p:cNvSpPr/>
          <p:nvPr/>
        </p:nvSpPr>
        <p:spPr>
          <a:xfrm>
            <a:off x="548640" y="3474720"/>
            <a:ext cx="4023360" cy="548640"/>
          </a:xfrm>
          <a:prstGeom prst="rect">
            <a:avLst/>
          </a:prstGeom>
          <a:solidFill>
            <a:srgbClr val="FFFFFF"/>
          </a:solidFill>
          <a:ln w="6350">
            <a:solidFill>
              <a:srgbClr val="DDE5EC"/>
            </a:solidFill>
            <a:prstDash val="solid"/>
          </a:ln>
        </p:spPr>
      </p:sp>
      <p:sp>
        <p:nvSpPr>
          <p:cNvPr id="29" name="Text 27"/>
          <p:cNvSpPr/>
          <p:nvPr/>
        </p:nvSpPr>
        <p:spPr>
          <a:xfrm>
            <a:off x="548640" y="3474720"/>
            <a:ext cx="4023360" cy="548640"/>
          </a:xfrm>
          <a:prstGeom prst="rect">
            <a:avLst/>
          </a:prstGeom>
          <a:noFill/>
          <a:ln/>
        </p:spPr>
        <p:txBody>
          <a:bodyPr wrap="square" lIns="101600" tIns="101600" rIns="101600" bIns="101600" rtlCol="0" anchor="ctr"/>
          <a:lstStyle/>
          <a:p>
            <a:pPr algn="l" indent="0" marL="0">
              <a:buNone/>
            </a:pPr>
            <a:r>
              <a:rPr lang="en-US" sz="1200" b="1" dirty="0">
                <a:solidFill>
                  <a:srgbClr val="2E5266"/>
                </a:solidFill>
                <a:latin typeface="Calibri" pitchFamily="34" charset="0"/>
                <a:ea typeface="Calibri" pitchFamily="34" charset="-122"/>
                <a:cs typeface="Calibri" pitchFamily="34" charset="-120"/>
              </a:rPr>
              <a:t>OOS R² (relative)</a:t>
            </a:r>
            <a:endParaRPr lang="en-US" sz="1200" dirty="0"/>
          </a:p>
        </p:txBody>
      </p:sp>
      <p:sp>
        <p:nvSpPr>
          <p:cNvPr id="30" name="Shape 28"/>
          <p:cNvSpPr/>
          <p:nvPr/>
        </p:nvSpPr>
        <p:spPr>
          <a:xfrm>
            <a:off x="4572000" y="3474720"/>
            <a:ext cx="2286000" cy="548640"/>
          </a:xfrm>
          <a:prstGeom prst="rect">
            <a:avLst/>
          </a:prstGeom>
          <a:solidFill>
            <a:srgbClr val="FFFFFF"/>
          </a:solidFill>
          <a:ln w="6350">
            <a:solidFill>
              <a:srgbClr val="DDE5EC"/>
            </a:solidFill>
            <a:prstDash val="solid"/>
          </a:ln>
        </p:spPr>
      </p:sp>
      <p:sp>
        <p:nvSpPr>
          <p:cNvPr id="31" name="Text 29"/>
          <p:cNvSpPr/>
          <p:nvPr/>
        </p:nvSpPr>
        <p:spPr>
          <a:xfrm>
            <a:off x="4572000" y="3474720"/>
            <a:ext cx="228600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−0.28</a:t>
            </a:r>
            <a:endParaRPr lang="en-US" sz="1200" dirty="0"/>
          </a:p>
        </p:txBody>
      </p:sp>
      <p:sp>
        <p:nvSpPr>
          <p:cNvPr id="32" name="Shape 30"/>
          <p:cNvSpPr/>
          <p:nvPr/>
        </p:nvSpPr>
        <p:spPr>
          <a:xfrm>
            <a:off x="6858000" y="3474720"/>
            <a:ext cx="2286000" cy="548640"/>
          </a:xfrm>
          <a:prstGeom prst="rect">
            <a:avLst/>
          </a:prstGeom>
          <a:solidFill>
            <a:srgbClr val="FFFFFF"/>
          </a:solidFill>
          <a:ln w="6350">
            <a:solidFill>
              <a:srgbClr val="DDE5EC"/>
            </a:solidFill>
            <a:prstDash val="solid"/>
          </a:ln>
        </p:spPr>
      </p:sp>
      <p:sp>
        <p:nvSpPr>
          <p:cNvPr id="33" name="Text 31"/>
          <p:cNvSpPr/>
          <p:nvPr/>
        </p:nvSpPr>
        <p:spPr>
          <a:xfrm>
            <a:off x="6858000" y="3474720"/>
            <a:ext cx="228600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−0.41</a:t>
            </a:r>
            <a:endParaRPr lang="en-US" sz="1200" dirty="0"/>
          </a:p>
        </p:txBody>
      </p:sp>
      <p:sp>
        <p:nvSpPr>
          <p:cNvPr id="34" name="Shape 32"/>
          <p:cNvSpPr/>
          <p:nvPr/>
        </p:nvSpPr>
        <p:spPr>
          <a:xfrm>
            <a:off x="9144000" y="3474720"/>
            <a:ext cx="2468880" cy="548640"/>
          </a:xfrm>
          <a:prstGeom prst="rect">
            <a:avLst/>
          </a:prstGeom>
          <a:solidFill>
            <a:srgbClr val="FFFFFF"/>
          </a:solidFill>
          <a:ln w="6350">
            <a:solidFill>
              <a:srgbClr val="DDE5EC"/>
            </a:solidFill>
            <a:prstDash val="solid"/>
          </a:ln>
        </p:spPr>
      </p:sp>
      <p:sp>
        <p:nvSpPr>
          <p:cNvPr id="35" name="Text 33"/>
          <p:cNvSpPr/>
          <p:nvPr/>
        </p:nvSpPr>
        <p:spPr>
          <a:xfrm>
            <a:off x="9144000" y="3474720"/>
            <a:ext cx="2468880" cy="548640"/>
          </a:xfrm>
          <a:prstGeom prst="rect">
            <a:avLst/>
          </a:prstGeom>
          <a:noFill/>
          <a:ln/>
        </p:spPr>
        <p:txBody>
          <a:bodyPr wrap="square" lIns="0" tIns="0" rIns="0" bIns="0" rtlCol="0" anchor="ctr"/>
          <a:lstStyle/>
          <a:p>
            <a:pPr algn="ctr" indent="0" marL="0">
              <a:buNone/>
            </a:pPr>
            <a:r>
              <a:rPr lang="en-US" sz="1200" b="1" dirty="0">
                <a:solidFill>
                  <a:srgbClr val="8FBC8F"/>
                </a:solidFill>
                <a:latin typeface="Calibri" pitchFamily="34" charset="0"/>
                <a:ea typeface="Calibri" pitchFamily="34" charset="-122"/>
                <a:cs typeface="Calibri" pitchFamily="34" charset="-120"/>
              </a:rPr>
              <a:t>✓ −0.08</a:t>
            </a:r>
            <a:endParaRPr lang="en-US" sz="1200" dirty="0"/>
          </a:p>
        </p:txBody>
      </p:sp>
      <p:sp>
        <p:nvSpPr>
          <p:cNvPr id="36" name="Shape 34"/>
          <p:cNvSpPr/>
          <p:nvPr/>
        </p:nvSpPr>
        <p:spPr>
          <a:xfrm>
            <a:off x="548640" y="4023360"/>
            <a:ext cx="4023360" cy="548640"/>
          </a:xfrm>
          <a:prstGeom prst="rect">
            <a:avLst/>
          </a:prstGeom>
          <a:solidFill>
            <a:srgbClr val="F4F7F9"/>
          </a:solidFill>
          <a:ln w="6350">
            <a:solidFill>
              <a:srgbClr val="DDE5EC"/>
            </a:solidFill>
            <a:prstDash val="solid"/>
          </a:ln>
        </p:spPr>
      </p:sp>
      <p:sp>
        <p:nvSpPr>
          <p:cNvPr id="37" name="Text 35"/>
          <p:cNvSpPr/>
          <p:nvPr/>
        </p:nvSpPr>
        <p:spPr>
          <a:xfrm>
            <a:off x="548640" y="4023360"/>
            <a:ext cx="4023360" cy="548640"/>
          </a:xfrm>
          <a:prstGeom prst="rect">
            <a:avLst/>
          </a:prstGeom>
          <a:noFill/>
          <a:ln/>
        </p:spPr>
        <p:txBody>
          <a:bodyPr wrap="square" lIns="101600" tIns="101600" rIns="101600" bIns="101600" rtlCol="0" anchor="ctr"/>
          <a:lstStyle/>
          <a:p>
            <a:pPr algn="l" indent="0" marL="0">
              <a:buNone/>
            </a:pPr>
            <a:r>
              <a:rPr lang="en-US" sz="1200" b="1" dirty="0">
                <a:solidFill>
                  <a:srgbClr val="2E5266"/>
                </a:solidFill>
                <a:latin typeface="Calibri" pitchFamily="34" charset="0"/>
                <a:ea typeface="Calibri" pitchFamily="34" charset="-122"/>
                <a:cs typeface="Calibri" pitchFamily="34" charset="-120"/>
              </a:rPr>
              <a:t>Anomaly persistence</a:t>
            </a:r>
            <a:endParaRPr lang="en-US" sz="1200" dirty="0"/>
          </a:p>
        </p:txBody>
      </p:sp>
      <p:sp>
        <p:nvSpPr>
          <p:cNvPr id="38" name="Shape 36"/>
          <p:cNvSpPr/>
          <p:nvPr/>
        </p:nvSpPr>
        <p:spPr>
          <a:xfrm>
            <a:off x="4572000" y="4023360"/>
            <a:ext cx="2286000" cy="548640"/>
          </a:xfrm>
          <a:prstGeom prst="rect">
            <a:avLst/>
          </a:prstGeom>
          <a:solidFill>
            <a:srgbClr val="F4F7F9"/>
          </a:solidFill>
          <a:ln w="6350">
            <a:solidFill>
              <a:srgbClr val="DDE5EC"/>
            </a:solidFill>
            <a:prstDash val="solid"/>
          </a:ln>
        </p:spPr>
      </p:sp>
      <p:sp>
        <p:nvSpPr>
          <p:cNvPr id="39" name="Text 37"/>
          <p:cNvSpPr/>
          <p:nvPr/>
        </p:nvSpPr>
        <p:spPr>
          <a:xfrm>
            <a:off x="4572000" y="4023360"/>
            <a:ext cx="228600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partial</a:t>
            </a:r>
            <a:endParaRPr lang="en-US" sz="1200" dirty="0"/>
          </a:p>
        </p:txBody>
      </p:sp>
      <p:sp>
        <p:nvSpPr>
          <p:cNvPr id="40" name="Shape 38"/>
          <p:cNvSpPr/>
          <p:nvPr/>
        </p:nvSpPr>
        <p:spPr>
          <a:xfrm>
            <a:off x="6858000" y="4023360"/>
            <a:ext cx="2286000" cy="548640"/>
          </a:xfrm>
          <a:prstGeom prst="rect">
            <a:avLst/>
          </a:prstGeom>
          <a:solidFill>
            <a:srgbClr val="F4F7F9"/>
          </a:solidFill>
          <a:ln w="6350">
            <a:solidFill>
              <a:srgbClr val="DDE5EC"/>
            </a:solidFill>
            <a:prstDash val="solid"/>
          </a:ln>
        </p:spPr>
      </p:sp>
      <p:sp>
        <p:nvSpPr>
          <p:cNvPr id="41" name="Text 39"/>
          <p:cNvSpPr/>
          <p:nvPr/>
        </p:nvSpPr>
        <p:spPr>
          <a:xfrm>
            <a:off x="6858000" y="4023360"/>
            <a:ext cx="228600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weak</a:t>
            </a:r>
            <a:endParaRPr lang="en-US" sz="1200" dirty="0"/>
          </a:p>
        </p:txBody>
      </p:sp>
      <p:sp>
        <p:nvSpPr>
          <p:cNvPr id="42" name="Shape 40"/>
          <p:cNvSpPr/>
          <p:nvPr/>
        </p:nvSpPr>
        <p:spPr>
          <a:xfrm>
            <a:off x="9144000" y="4023360"/>
            <a:ext cx="2468880" cy="548640"/>
          </a:xfrm>
          <a:prstGeom prst="rect">
            <a:avLst/>
          </a:prstGeom>
          <a:solidFill>
            <a:srgbClr val="F4F7F9"/>
          </a:solidFill>
          <a:ln w="6350">
            <a:solidFill>
              <a:srgbClr val="DDE5EC"/>
            </a:solidFill>
            <a:prstDash val="solid"/>
          </a:ln>
        </p:spPr>
      </p:sp>
      <p:sp>
        <p:nvSpPr>
          <p:cNvPr id="43" name="Text 41"/>
          <p:cNvSpPr/>
          <p:nvPr/>
        </p:nvSpPr>
        <p:spPr>
          <a:xfrm>
            <a:off x="9144000" y="4023360"/>
            <a:ext cx="246888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non-monotonic</a:t>
            </a:r>
            <a:endParaRPr lang="en-US" sz="1200" dirty="0"/>
          </a:p>
        </p:txBody>
      </p:sp>
      <p:sp>
        <p:nvSpPr>
          <p:cNvPr id="44" name="Shape 42"/>
          <p:cNvSpPr/>
          <p:nvPr/>
        </p:nvSpPr>
        <p:spPr>
          <a:xfrm>
            <a:off x="548640" y="4937760"/>
            <a:ext cx="11064240" cy="1280160"/>
          </a:xfrm>
          <a:prstGeom prst="rect">
            <a:avLst/>
          </a:prstGeom>
          <a:solidFill>
            <a:srgbClr val="2E5266"/>
          </a:solidFill>
          <a:ln w="12700">
            <a:solidFill>
              <a:srgbClr val="2E5266"/>
            </a:solidFill>
            <a:prstDash val="solid"/>
          </a:ln>
        </p:spPr>
      </p:sp>
      <p:sp>
        <p:nvSpPr>
          <p:cNvPr id="45" name="Shape 43"/>
          <p:cNvSpPr/>
          <p:nvPr/>
        </p:nvSpPr>
        <p:spPr>
          <a:xfrm>
            <a:off x="548640" y="4937760"/>
            <a:ext cx="91440" cy="1280160"/>
          </a:xfrm>
          <a:prstGeom prst="rect">
            <a:avLst/>
          </a:prstGeom>
          <a:solidFill>
            <a:srgbClr val="8FBC8F"/>
          </a:solidFill>
          <a:ln w="12700">
            <a:solidFill>
              <a:srgbClr val="8FBC8F"/>
            </a:solidFill>
            <a:prstDash val="solid"/>
          </a:ln>
        </p:spPr>
      </p:sp>
      <p:sp>
        <p:nvSpPr>
          <p:cNvPr id="46" name="Text 44"/>
          <p:cNvSpPr/>
          <p:nvPr/>
        </p:nvSpPr>
        <p:spPr>
          <a:xfrm>
            <a:off x="868680" y="5074920"/>
            <a:ext cx="10515600" cy="32004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THE SHORT VERSION</a:t>
            </a:r>
            <a:endParaRPr lang="en-US" sz="1100" dirty="0"/>
          </a:p>
        </p:txBody>
      </p:sp>
      <p:sp>
        <p:nvSpPr>
          <p:cNvPr id="47" name="Text 45"/>
          <p:cNvSpPr/>
          <p:nvPr/>
        </p:nvSpPr>
        <p:spPr>
          <a:xfrm>
            <a:off x="868680" y="5440680"/>
            <a:ext cx="105156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scheme is a clear winner. GICS is strongest on co-movement and 1-month anomaly signal. The unsupervised clusters carry information GICS doesn't, but at k=2 the comparison isn't apples-to-apples.</a:t>
            </a:r>
            <a:endParaRPr lang="en-US" sz="1300" dirty="0"/>
          </a:p>
        </p:txBody>
      </p:sp>
      <p:sp>
        <p:nvSpPr>
          <p:cNvPr id="48" name="Text 46"/>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49" name="Text 47"/>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100" b="1" spc="400" kern="0" dirty="0">
                <a:solidFill>
                  <a:srgbClr val="8FBC8F"/>
                </a:solidFill>
                <a:latin typeface="Calibri" pitchFamily="34" charset="0"/>
                <a:ea typeface="Calibri" pitchFamily="34" charset="-122"/>
                <a:cs typeface="Calibri" pitchFamily="34" charset="-120"/>
              </a:rPr>
              <a:t>WHERE TO GO NEXT</a:t>
            </a:r>
            <a:endParaRPr lang="en-US" sz="1100" dirty="0"/>
          </a:p>
        </p:txBody>
      </p:sp>
      <p:sp>
        <p:nvSpPr>
          <p:cNvPr id="3" name="Text 1"/>
          <p:cNvSpPr/>
          <p:nvPr/>
        </p:nvSpPr>
        <p:spPr>
          <a:xfrm>
            <a:off x="548640" y="731520"/>
            <a:ext cx="10972800" cy="777240"/>
          </a:xfrm>
          <a:prstGeom prst="rect">
            <a:avLst/>
          </a:prstGeom>
          <a:noFill/>
          <a:ln/>
        </p:spPr>
        <p:txBody>
          <a:bodyPr wrap="square" lIns="0" tIns="0" rIns="0" bIns="0" rtlCol="0" anchor="ctr"/>
          <a:lstStyle/>
          <a:p>
            <a:pPr indent="0" marL="0">
              <a:buNone/>
            </a:pPr>
            <a:r>
              <a:rPr lang="en-US" sz="3000" b="1" dirty="0">
                <a:solidFill>
                  <a:srgbClr val="2E5266"/>
                </a:solidFill>
                <a:latin typeface="Georgia" pitchFamily="34" charset="0"/>
                <a:ea typeface="Georgia" pitchFamily="34" charset="-122"/>
                <a:cs typeface="Georgia" pitchFamily="34" charset="-120"/>
              </a:rPr>
              <a:t>Open questions and next steps</a:t>
            </a:r>
            <a:endParaRPr lang="en-US" sz="3000" dirty="0"/>
          </a:p>
        </p:txBody>
      </p:sp>
      <p:sp>
        <p:nvSpPr>
          <p:cNvPr id="4" name="Shape 2"/>
          <p:cNvSpPr/>
          <p:nvPr/>
        </p:nvSpPr>
        <p:spPr>
          <a:xfrm>
            <a:off x="548640" y="1783080"/>
            <a:ext cx="5486400" cy="2057400"/>
          </a:xfrm>
          <a:prstGeom prst="rect">
            <a:avLst/>
          </a:prstGeom>
          <a:solidFill>
            <a:srgbClr val="F4F7F9"/>
          </a:solidFill>
          <a:ln w="12700">
            <a:solidFill>
              <a:srgbClr val="DDE5EC"/>
            </a:solidFill>
            <a:prstDash val="solid"/>
          </a:ln>
        </p:spPr>
      </p:sp>
      <p:sp>
        <p:nvSpPr>
          <p:cNvPr id="5" name="Shape 3"/>
          <p:cNvSpPr/>
          <p:nvPr/>
        </p:nvSpPr>
        <p:spPr>
          <a:xfrm>
            <a:off x="548640" y="1783080"/>
            <a:ext cx="73152" cy="2057400"/>
          </a:xfrm>
          <a:prstGeom prst="rect">
            <a:avLst/>
          </a:prstGeom>
          <a:solidFill>
            <a:srgbClr val="8FBC8F"/>
          </a:solidFill>
          <a:ln w="12700">
            <a:solidFill>
              <a:srgbClr val="8FBC8F"/>
            </a:solidFill>
            <a:prstDash val="solid"/>
          </a:ln>
        </p:spPr>
      </p:sp>
      <p:sp>
        <p:nvSpPr>
          <p:cNvPr id="6" name="Text 4"/>
          <p:cNvSpPr/>
          <p:nvPr/>
        </p:nvSpPr>
        <p:spPr>
          <a:xfrm>
            <a:off x="777240" y="1965960"/>
            <a:ext cx="914400" cy="457200"/>
          </a:xfrm>
          <a:prstGeom prst="rect">
            <a:avLst/>
          </a:prstGeom>
          <a:noFill/>
          <a:ln/>
        </p:spPr>
        <p:txBody>
          <a:bodyPr wrap="square" lIns="0" tIns="0" rIns="0" bIns="0" rtlCol="0" anchor="ctr"/>
          <a:lstStyle/>
          <a:p>
            <a:pPr indent="0" marL="0">
              <a:buNone/>
            </a:pPr>
            <a:r>
              <a:rPr lang="en-US" sz="2800" b="1" dirty="0">
                <a:solidFill>
                  <a:srgbClr val="8FBC8F"/>
                </a:solidFill>
                <a:latin typeface="Georgia" pitchFamily="34" charset="0"/>
                <a:ea typeface="Georgia" pitchFamily="34" charset="-122"/>
                <a:cs typeface="Georgia" pitchFamily="34" charset="-120"/>
              </a:rPr>
              <a:t>01</a:t>
            </a:r>
            <a:endParaRPr lang="en-US" sz="2800" dirty="0"/>
          </a:p>
        </p:txBody>
      </p:sp>
      <p:sp>
        <p:nvSpPr>
          <p:cNvPr id="7" name="Text 5"/>
          <p:cNvSpPr/>
          <p:nvPr/>
        </p:nvSpPr>
        <p:spPr>
          <a:xfrm>
            <a:off x="1737360" y="2011680"/>
            <a:ext cx="4114800" cy="411480"/>
          </a:xfrm>
          <a:prstGeom prst="rect">
            <a:avLst/>
          </a:prstGeom>
          <a:noFill/>
          <a:ln/>
        </p:spPr>
        <p:txBody>
          <a:bodyPr wrap="square" lIns="0" tIns="0" rIns="0" bIns="0" rtlCol="0" anchor="ctr"/>
          <a:lstStyle/>
          <a:p>
            <a:pPr indent="0" marL="0">
              <a:buNone/>
            </a:pPr>
            <a:r>
              <a:rPr lang="en-US" sz="1700" b="1" dirty="0">
                <a:solidFill>
                  <a:srgbClr val="2E5266"/>
                </a:solidFill>
                <a:latin typeface="Calibri" pitchFamily="34" charset="0"/>
                <a:ea typeface="Calibri" pitchFamily="34" charset="-122"/>
                <a:cs typeface="Calibri" pitchFamily="34" charset="-120"/>
              </a:rPr>
              <a:t>Force comparable k</a:t>
            </a:r>
            <a:endParaRPr lang="en-US" sz="1700" dirty="0"/>
          </a:p>
        </p:txBody>
      </p:sp>
      <p:sp>
        <p:nvSpPr>
          <p:cNvPr id="8" name="Text 6"/>
          <p:cNvSpPr/>
          <p:nvPr/>
        </p:nvSpPr>
        <p:spPr>
          <a:xfrm>
            <a:off x="1737360" y="2514600"/>
            <a:ext cx="4114800" cy="11887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Rerun K-Means with k pinned at 11 or 12 to match GICS / FF12 granularity. Does within-group correlation flip in the clusters' favor?</a:t>
            </a:r>
            <a:endParaRPr lang="en-US" sz="1200" dirty="0"/>
          </a:p>
        </p:txBody>
      </p:sp>
      <p:sp>
        <p:nvSpPr>
          <p:cNvPr id="9" name="Shape 7"/>
          <p:cNvSpPr/>
          <p:nvPr/>
        </p:nvSpPr>
        <p:spPr>
          <a:xfrm>
            <a:off x="6263640" y="1783080"/>
            <a:ext cx="5486400" cy="2057400"/>
          </a:xfrm>
          <a:prstGeom prst="rect">
            <a:avLst/>
          </a:prstGeom>
          <a:solidFill>
            <a:srgbClr val="F4F7F9"/>
          </a:solidFill>
          <a:ln w="12700">
            <a:solidFill>
              <a:srgbClr val="DDE5EC"/>
            </a:solidFill>
            <a:prstDash val="solid"/>
          </a:ln>
        </p:spPr>
      </p:sp>
      <p:sp>
        <p:nvSpPr>
          <p:cNvPr id="10" name="Shape 8"/>
          <p:cNvSpPr/>
          <p:nvPr/>
        </p:nvSpPr>
        <p:spPr>
          <a:xfrm>
            <a:off x="6263640" y="1783080"/>
            <a:ext cx="73152" cy="2057400"/>
          </a:xfrm>
          <a:prstGeom prst="rect">
            <a:avLst/>
          </a:prstGeom>
          <a:solidFill>
            <a:srgbClr val="8FBC8F"/>
          </a:solidFill>
          <a:ln w="12700">
            <a:solidFill>
              <a:srgbClr val="8FBC8F"/>
            </a:solidFill>
            <a:prstDash val="solid"/>
          </a:ln>
        </p:spPr>
      </p:sp>
      <p:sp>
        <p:nvSpPr>
          <p:cNvPr id="11" name="Text 9"/>
          <p:cNvSpPr/>
          <p:nvPr/>
        </p:nvSpPr>
        <p:spPr>
          <a:xfrm>
            <a:off x="6492240" y="1965960"/>
            <a:ext cx="914400" cy="457200"/>
          </a:xfrm>
          <a:prstGeom prst="rect">
            <a:avLst/>
          </a:prstGeom>
          <a:noFill/>
          <a:ln/>
        </p:spPr>
        <p:txBody>
          <a:bodyPr wrap="square" lIns="0" tIns="0" rIns="0" bIns="0" rtlCol="0" anchor="ctr"/>
          <a:lstStyle/>
          <a:p>
            <a:pPr indent="0" marL="0">
              <a:buNone/>
            </a:pPr>
            <a:r>
              <a:rPr lang="en-US" sz="2800" b="1" dirty="0">
                <a:solidFill>
                  <a:srgbClr val="8FBC8F"/>
                </a:solidFill>
                <a:latin typeface="Georgia" pitchFamily="34" charset="0"/>
                <a:ea typeface="Georgia" pitchFamily="34" charset="-122"/>
                <a:cs typeface="Georgia" pitchFamily="34" charset="-120"/>
              </a:rPr>
              <a:t>02</a:t>
            </a:r>
            <a:endParaRPr lang="en-US" sz="2800" dirty="0"/>
          </a:p>
        </p:txBody>
      </p:sp>
      <p:sp>
        <p:nvSpPr>
          <p:cNvPr id="12" name="Text 10"/>
          <p:cNvSpPr/>
          <p:nvPr/>
        </p:nvSpPr>
        <p:spPr>
          <a:xfrm>
            <a:off x="7452360" y="2011680"/>
            <a:ext cx="4114800" cy="411480"/>
          </a:xfrm>
          <a:prstGeom prst="rect">
            <a:avLst/>
          </a:prstGeom>
          <a:noFill/>
          <a:ln/>
        </p:spPr>
        <p:txBody>
          <a:bodyPr wrap="square" lIns="0" tIns="0" rIns="0" bIns="0" rtlCol="0" anchor="ctr"/>
          <a:lstStyle/>
          <a:p>
            <a:pPr indent="0" marL="0">
              <a:buNone/>
            </a:pPr>
            <a:r>
              <a:rPr lang="en-US" sz="1700" b="1" dirty="0">
                <a:solidFill>
                  <a:srgbClr val="2E5266"/>
                </a:solidFill>
                <a:latin typeface="Calibri" pitchFamily="34" charset="0"/>
                <a:ea typeface="Calibri" pitchFamily="34" charset="-122"/>
                <a:cs typeface="Calibri" pitchFamily="34" charset="-120"/>
              </a:rPr>
              <a:t>Expand the feature set</a:t>
            </a:r>
            <a:endParaRPr lang="en-US" sz="1700" dirty="0"/>
          </a:p>
        </p:txBody>
      </p:sp>
      <p:sp>
        <p:nvSpPr>
          <p:cNvPr id="13" name="Text 11"/>
          <p:cNvSpPr/>
          <p:nvPr/>
        </p:nvSpPr>
        <p:spPr>
          <a:xfrm>
            <a:off x="7452360" y="2514600"/>
            <a:ext cx="4114800" cy="11887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All R² were negative. Add momentum, quality, short-term reversal — features beyond FF5 — and test whether predictability emerges.</a:t>
            </a:r>
            <a:endParaRPr lang="en-US" sz="1200" dirty="0"/>
          </a:p>
        </p:txBody>
      </p:sp>
      <p:sp>
        <p:nvSpPr>
          <p:cNvPr id="14" name="Shape 12"/>
          <p:cNvSpPr/>
          <p:nvPr/>
        </p:nvSpPr>
        <p:spPr>
          <a:xfrm>
            <a:off x="548640" y="4069080"/>
            <a:ext cx="5486400" cy="2057400"/>
          </a:xfrm>
          <a:prstGeom prst="rect">
            <a:avLst/>
          </a:prstGeom>
          <a:solidFill>
            <a:srgbClr val="F4F7F9"/>
          </a:solidFill>
          <a:ln w="12700">
            <a:solidFill>
              <a:srgbClr val="DDE5EC"/>
            </a:solidFill>
            <a:prstDash val="solid"/>
          </a:ln>
        </p:spPr>
      </p:sp>
      <p:sp>
        <p:nvSpPr>
          <p:cNvPr id="15" name="Shape 13"/>
          <p:cNvSpPr/>
          <p:nvPr/>
        </p:nvSpPr>
        <p:spPr>
          <a:xfrm>
            <a:off x="548640" y="4069080"/>
            <a:ext cx="73152" cy="2057400"/>
          </a:xfrm>
          <a:prstGeom prst="rect">
            <a:avLst/>
          </a:prstGeom>
          <a:solidFill>
            <a:srgbClr val="8FBC8F"/>
          </a:solidFill>
          <a:ln w="12700">
            <a:solidFill>
              <a:srgbClr val="8FBC8F"/>
            </a:solidFill>
            <a:prstDash val="solid"/>
          </a:ln>
        </p:spPr>
      </p:sp>
      <p:sp>
        <p:nvSpPr>
          <p:cNvPr id="16" name="Text 14"/>
          <p:cNvSpPr/>
          <p:nvPr/>
        </p:nvSpPr>
        <p:spPr>
          <a:xfrm>
            <a:off x="777240" y="4251960"/>
            <a:ext cx="914400" cy="457200"/>
          </a:xfrm>
          <a:prstGeom prst="rect">
            <a:avLst/>
          </a:prstGeom>
          <a:noFill/>
          <a:ln/>
        </p:spPr>
        <p:txBody>
          <a:bodyPr wrap="square" lIns="0" tIns="0" rIns="0" bIns="0" rtlCol="0" anchor="ctr"/>
          <a:lstStyle/>
          <a:p>
            <a:pPr indent="0" marL="0">
              <a:buNone/>
            </a:pPr>
            <a:r>
              <a:rPr lang="en-US" sz="2800" b="1" dirty="0">
                <a:solidFill>
                  <a:srgbClr val="8FBC8F"/>
                </a:solidFill>
                <a:latin typeface="Georgia" pitchFamily="34" charset="0"/>
                <a:ea typeface="Georgia" pitchFamily="34" charset="-122"/>
                <a:cs typeface="Georgia" pitchFamily="34" charset="-120"/>
              </a:rPr>
              <a:t>03</a:t>
            </a:r>
            <a:endParaRPr lang="en-US" sz="2800" dirty="0"/>
          </a:p>
        </p:txBody>
      </p:sp>
      <p:sp>
        <p:nvSpPr>
          <p:cNvPr id="17" name="Text 15"/>
          <p:cNvSpPr/>
          <p:nvPr/>
        </p:nvSpPr>
        <p:spPr>
          <a:xfrm>
            <a:off x="1737360" y="4297680"/>
            <a:ext cx="4114800" cy="411480"/>
          </a:xfrm>
          <a:prstGeom prst="rect">
            <a:avLst/>
          </a:prstGeom>
          <a:noFill/>
          <a:ln/>
        </p:spPr>
        <p:txBody>
          <a:bodyPr wrap="square" lIns="0" tIns="0" rIns="0" bIns="0" rtlCol="0" anchor="ctr"/>
          <a:lstStyle/>
          <a:p>
            <a:pPr indent="0" marL="0">
              <a:buNone/>
            </a:pPr>
            <a:r>
              <a:rPr lang="en-US" sz="1700" b="1" dirty="0">
                <a:solidFill>
                  <a:srgbClr val="2E5266"/>
                </a:solidFill>
                <a:latin typeface="Calibri" pitchFamily="34" charset="0"/>
                <a:ea typeface="Calibri" pitchFamily="34" charset="-122"/>
                <a:cs typeface="Calibri" pitchFamily="34" charset="-120"/>
              </a:rPr>
              <a:t>Longer anomaly horizons</a:t>
            </a:r>
            <a:endParaRPr lang="en-US" sz="1700" dirty="0"/>
          </a:p>
        </p:txBody>
      </p:sp>
      <p:sp>
        <p:nvSpPr>
          <p:cNvPr id="18" name="Text 16"/>
          <p:cNvSpPr/>
          <p:nvPr/>
        </p:nvSpPr>
        <p:spPr>
          <a:xfrm>
            <a:off x="1737360" y="4800600"/>
            <a:ext cx="4114800" cy="11887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6 months may be too short for mispricing to fully reverse. Extend to 12 / 24 months and re-test persistence patterns.</a:t>
            </a:r>
            <a:endParaRPr lang="en-US" sz="1200" dirty="0"/>
          </a:p>
        </p:txBody>
      </p:sp>
      <p:sp>
        <p:nvSpPr>
          <p:cNvPr id="19" name="Shape 17"/>
          <p:cNvSpPr/>
          <p:nvPr/>
        </p:nvSpPr>
        <p:spPr>
          <a:xfrm>
            <a:off x="6263640" y="4069080"/>
            <a:ext cx="5486400" cy="2057400"/>
          </a:xfrm>
          <a:prstGeom prst="rect">
            <a:avLst/>
          </a:prstGeom>
          <a:solidFill>
            <a:srgbClr val="F4F7F9"/>
          </a:solidFill>
          <a:ln w="12700">
            <a:solidFill>
              <a:srgbClr val="DDE5EC"/>
            </a:solidFill>
            <a:prstDash val="solid"/>
          </a:ln>
        </p:spPr>
      </p:sp>
      <p:sp>
        <p:nvSpPr>
          <p:cNvPr id="20" name="Shape 18"/>
          <p:cNvSpPr/>
          <p:nvPr/>
        </p:nvSpPr>
        <p:spPr>
          <a:xfrm>
            <a:off x="6263640" y="4069080"/>
            <a:ext cx="73152" cy="2057400"/>
          </a:xfrm>
          <a:prstGeom prst="rect">
            <a:avLst/>
          </a:prstGeom>
          <a:solidFill>
            <a:srgbClr val="8FBC8F"/>
          </a:solidFill>
          <a:ln w="12700">
            <a:solidFill>
              <a:srgbClr val="8FBC8F"/>
            </a:solidFill>
            <a:prstDash val="solid"/>
          </a:ln>
        </p:spPr>
      </p:sp>
      <p:sp>
        <p:nvSpPr>
          <p:cNvPr id="21" name="Text 19"/>
          <p:cNvSpPr/>
          <p:nvPr/>
        </p:nvSpPr>
        <p:spPr>
          <a:xfrm>
            <a:off x="6492240" y="4251960"/>
            <a:ext cx="914400" cy="457200"/>
          </a:xfrm>
          <a:prstGeom prst="rect">
            <a:avLst/>
          </a:prstGeom>
          <a:noFill/>
          <a:ln/>
        </p:spPr>
        <p:txBody>
          <a:bodyPr wrap="square" lIns="0" tIns="0" rIns="0" bIns="0" rtlCol="0" anchor="ctr"/>
          <a:lstStyle/>
          <a:p>
            <a:pPr indent="0" marL="0">
              <a:buNone/>
            </a:pPr>
            <a:r>
              <a:rPr lang="en-US" sz="2800" b="1" dirty="0">
                <a:solidFill>
                  <a:srgbClr val="8FBC8F"/>
                </a:solidFill>
                <a:latin typeface="Georgia" pitchFamily="34" charset="0"/>
                <a:ea typeface="Georgia" pitchFamily="34" charset="-122"/>
                <a:cs typeface="Georgia" pitchFamily="34" charset="-120"/>
              </a:rPr>
              <a:t>04</a:t>
            </a:r>
            <a:endParaRPr lang="en-US" sz="2800" dirty="0"/>
          </a:p>
        </p:txBody>
      </p:sp>
      <p:sp>
        <p:nvSpPr>
          <p:cNvPr id="22" name="Text 20"/>
          <p:cNvSpPr/>
          <p:nvPr/>
        </p:nvSpPr>
        <p:spPr>
          <a:xfrm>
            <a:off x="7452360" y="4297680"/>
            <a:ext cx="4114800" cy="411480"/>
          </a:xfrm>
          <a:prstGeom prst="rect">
            <a:avLst/>
          </a:prstGeom>
          <a:noFill/>
          <a:ln/>
        </p:spPr>
        <p:txBody>
          <a:bodyPr wrap="square" lIns="0" tIns="0" rIns="0" bIns="0" rtlCol="0" anchor="ctr"/>
          <a:lstStyle/>
          <a:p>
            <a:pPr indent="0" marL="0">
              <a:buNone/>
            </a:pPr>
            <a:r>
              <a:rPr lang="en-US" sz="1700" b="1" dirty="0">
                <a:solidFill>
                  <a:srgbClr val="2E5266"/>
                </a:solidFill>
                <a:latin typeface="Calibri" pitchFamily="34" charset="0"/>
                <a:ea typeface="Calibri" pitchFamily="34" charset="-122"/>
                <a:cs typeface="Calibri" pitchFamily="34" charset="-120"/>
              </a:rPr>
              <a:t>Full S&amp;P 500 universe</a:t>
            </a:r>
            <a:endParaRPr lang="en-US" sz="1700" dirty="0"/>
          </a:p>
        </p:txBody>
      </p:sp>
      <p:sp>
        <p:nvSpPr>
          <p:cNvPr id="23" name="Text 21"/>
          <p:cNvSpPr/>
          <p:nvPr/>
        </p:nvSpPr>
        <p:spPr>
          <a:xfrm>
            <a:off x="7452360" y="4800600"/>
            <a:ext cx="4114800" cy="11887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Re-run with dev mode off. Larger universe will tighten estimates and may change which scheme wins on prediction.</a:t>
            </a:r>
            <a:endParaRPr lang="en-US" sz="1200" dirty="0"/>
          </a:p>
        </p:txBody>
      </p:sp>
      <p:sp>
        <p:nvSpPr>
          <p:cNvPr id="24" name="Text 22"/>
          <p:cNvSpPr/>
          <p:nvPr/>
        </p:nvSpPr>
        <p:spPr>
          <a:xfrm>
            <a:off x="457200" y="6400800"/>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Group 8 · USF · Apr 2026</a:t>
            </a:r>
            <a:endParaRPr lang="en-US" sz="900" dirty="0"/>
          </a:p>
        </p:txBody>
      </p:sp>
      <p:sp>
        <p:nvSpPr>
          <p:cNvPr id="25" name="Text 23"/>
          <p:cNvSpPr/>
          <p:nvPr/>
        </p:nvSpPr>
        <p:spPr>
          <a:xfrm>
            <a:off x="11064240" y="6400800"/>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E526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FBC8F"/>
          </a:solidFill>
          <a:ln w="12700">
            <a:solidFill>
              <a:srgbClr val="8FBC8F"/>
            </a:solidFill>
            <a:prstDash val="solid"/>
          </a:ln>
        </p:spPr>
      </p:sp>
      <p:sp>
        <p:nvSpPr>
          <p:cNvPr id="3" name="Text 1"/>
          <p:cNvSpPr/>
          <p:nvPr/>
        </p:nvSpPr>
        <p:spPr>
          <a:xfrm>
            <a:off x="731520" y="2103120"/>
            <a:ext cx="10972800" cy="411480"/>
          </a:xfrm>
          <a:prstGeom prst="rect">
            <a:avLst/>
          </a:prstGeom>
          <a:noFill/>
          <a:ln/>
        </p:spPr>
        <p:txBody>
          <a:bodyPr wrap="square" lIns="0" tIns="0" rIns="0" bIns="0" rtlCol="0" anchor="ctr"/>
          <a:lstStyle/>
          <a:p>
            <a:pPr indent="0" marL="0">
              <a:buNone/>
            </a:pPr>
            <a:r>
              <a:rPr lang="en-US" sz="1300" b="1" spc="600" kern="0" dirty="0">
                <a:solidFill>
                  <a:srgbClr val="8FBC8F"/>
                </a:solidFill>
                <a:latin typeface="Calibri" pitchFamily="34" charset="0"/>
                <a:ea typeface="Calibri" pitchFamily="34" charset="-122"/>
                <a:cs typeface="Calibri" pitchFamily="34" charset="-120"/>
              </a:rPr>
              <a:t>THANK YOU</a:t>
            </a:r>
            <a:endParaRPr lang="en-US" sz="1300" dirty="0"/>
          </a:p>
        </p:txBody>
      </p:sp>
      <p:sp>
        <p:nvSpPr>
          <p:cNvPr id="4" name="Text 2"/>
          <p:cNvSpPr/>
          <p:nvPr/>
        </p:nvSpPr>
        <p:spPr>
          <a:xfrm>
            <a:off x="731520" y="2606040"/>
            <a:ext cx="10972800" cy="137160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Questions?</a:t>
            </a:r>
            <a:endParaRPr lang="en-US" sz="6400" dirty="0"/>
          </a:p>
        </p:txBody>
      </p:sp>
      <p:sp>
        <p:nvSpPr>
          <p:cNvPr id="5" name="Shape 3"/>
          <p:cNvSpPr/>
          <p:nvPr/>
        </p:nvSpPr>
        <p:spPr>
          <a:xfrm>
            <a:off x="731520" y="4114800"/>
            <a:ext cx="2286000" cy="0"/>
          </a:xfrm>
          <a:prstGeom prst="line">
            <a:avLst/>
          </a:prstGeom>
          <a:noFill/>
          <a:ln w="25400">
            <a:solidFill>
              <a:srgbClr val="8FBC8F"/>
            </a:solidFill>
            <a:prstDash val="solid"/>
          </a:ln>
        </p:spPr>
      </p:sp>
      <p:sp>
        <p:nvSpPr>
          <p:cNvPr id="6" name="Text 4"/>
          <p:cNvSpPr/>
          <p:nvPr/>
        </p:nvSpPr>
        <p:spPr>
          <a:xfrm>
            <a:off x="731520" y="4297680"/>
            <a:ext cx="10972800" cy="1371600"/>
          </a:xfrm>
          <a:prstGeom prst="rect">
            <a:avLst/>
          </a:prstGeom>
          <a:noFill/>
          <a:ln/>
        </p:spPr>
        <p:txBody>
          <a:bodyPr wrap="square" lIns="0" tIns="0" rIns="0" bIns="0" rtlCol="0" anchor="ctr"/>
          <a:lstStyle/>
          <a:p>
            <a:pPr indent="0" marL="0">
              <a:buNone/>
            </a:pPr>
            <a:r>
              <a:rPr lang="en-US" sz="1400" i="1" dirty="0">
                <a:solidFill>
                  <a:srgbClr val="D6E4EC"/>
                </a:solidFill>
                <a:latin typeface="Calibri" pitchFamily="34" charset="0"/>
                <a:ea typeface="Calibri" pitchFamily="34" charset="-122"/>
                <a:cs typeface="Calibri" pitchFamily="34" charset="-120"/>
              </a:rPr>
              <a:t>Three classifiers · four dimensions of comparison</a:t>
            </a: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D6E4EC"/>
                </a:solidFill>
                <a:latin typeface="Calibri" pitchFamily="34" charset="0"/>
                <a:ea typeface="Calibri" pitchFamily="34" charset="-122"/>
                <a:cs typeface="Calibri" pitchFamily="34" charset="-120"/>
              </a:rPr>
              <a:t>Group 8 · Big Data &amp; Machine Learning in Finance · April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Three-Way Equity Classifier Comparison</dc:title>
  <dc:subject>PptxGenJS Presentation</dc:subject>
  <dc:creator>Group 8</dc:creator>
  <cp:lastModifiedBy>Group 8</cp:lastModifiedBy>
  <cp:revision>1</cp:revision>
  <dcterms:created xsi:type="dcterms:W3CDTF">2026-04-27T23:31:07Z</dcterms:created>
  <dcterms:modified xsi:type="dcterms:W3CDTF">2026-04-27T23:31:07Z</dcterms:modified>
</cp:coreProperties>
</file>